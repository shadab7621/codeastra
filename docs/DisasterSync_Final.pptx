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f04bba4-b0d9-2c6b-18ea-8888303b39d0}">
          <p14:sldIdLst>
            <p14:sldId id="256"/>
          </p14:sldIdLst>
        </p14:section>
        <p14:section name="Problem" id="{570b9ea1-4139-5b89-96b9-a9be4338cfa1}">
          <p14:sldIdLst>
            <p14:sldId id="257"/>
            <p14:sldId id="258"/>
          </p14:sldIdLst>
        </p14:section>
        <p14:section name="How it works" id="{c8150892-d888-5875-7911-c1a00e66c89a}">
          <p14:sldIdLst>
            <p14:sldId id="259"/>
            <p14:sldId id="260"/>
          </p14:sldIdLst>
        </p14:section>
        <p14:section name="Conflicts" id="{b865b21b-ab4f-c59a-ecf4-d9fb00417a63}">
          <p14:sldIdLst>
            <p14:sldId id="261"/>
            <p14:sldId id="262"/>
          </p14:sldIdLst>
        </p14:section>
        <p14:section name="Graceful degradation" id="{3c2e17f7-5060-1933-df9b-9d4d52dbcbb8}">
          <p14:sldIdLst>
            <p14:sldId id="263"/>
            <p14:sldId id="264"/>
          </p14:sldIdLst>
        </p14:section>
        <p14:section name="Evidence" id="{4aab59b7-1274-2bf6-6cba-bf9f9d14b813}">
          <p14:sldIdLst>
            <p14:sldId id="265"/>
            <p14:sldId id="266"/>
            <p14:sldId id="267"/>
          </p14:sldIdLst>
        </p14:section>
        <p14:section name="Closing" id="{a21c6fd1-978d-6d92-79ec-221574551b05}">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172A"/>
                </a:solidFill>
                <a:latin typeface="+mn-lt"/>
              </a:defRPr>
            </a:pPr>
            <a:r>
              <a:rPr sz="1300" b="0" i="0" u="none" strike="noStrike">
                <a:solidFill>
                  <a:srgbClr val="0F172A"/>
                </a:solidFill>
                <a:latin typeface="+mn-lt"/>
              </a:rPr>
              <a:t>Acknowledged edits silently lost (%)</a:t>
            </a:r>
          </a:p>
        </c:rich>
      </c:tx>
      <c:layout/>
      <c:overlay val="0"/>
    </c:title>
    <c:autoTitleDeleted val="0"/>
    <c:plotArea>
      <c:layout/>
      <c:barChart>
        <c:barDir val="col"/>
        <c:grouping val="clustered"/>
        <c:varyColors val="0"/>
        <c:ser>
          <c:idx val="0"/>
          <c:order val="0"/>
          <c:tx>
            <c:strRef>
              <c:f>Sheet1!$B$1</c:f>
              <c:strCache>
                <c:ptCount val="1"/>
                <c:pt idx="0">
                  <c:v>Acknowledged edits silently lost (%)</c:v>
                </c:pt>
              </c:strCache>
            </c:strRef>
          </c:tx>
          <c:spPr>
            <a:solidFill>
              <a:srgbClr val="D64545"/>
            </a:solidFill>
            <a:effectLst/>
          </c:spPr>
          <c:invertIfNegative val="0"/>
          <c:dLbls>
            <c:numFmt formatCode="0.0" sourceLinked="0"/>
            <c:txPr>
              <a:bodyPr/>
              <a:lstStyle/>
              <a:p>
                <a:pPr>
                  <a:defRPr b="1" i="0" strike="noStrike" sz="1400" u="none">
                    <a:solidFill>
                      <a:srgbClr val="0F172A"/>
                    </a:solidFill>
                    <a:latin typeface="+mn-lt"/>
                  </a:defRPr>
                </a:pPr>
              </a:p>
            </c:txPr>
            <c:showLegendKey val="0"/>
            <c:showVal val="1"/>
            <c:showCatName val="0"/>
            <c:showSerName val="0"/>
            <c:showPercent val="0"/>
            <c:showBubbleSize val="0"/>
            <c:showLeaderLines val="0"/>
          </c:dLbls>
          <c:dPt>
            <c:idx val="0"/>
            <c:invertIfNegative val="0"/>
            <c:bubble3D val="0"/>
            <c:spPr>
              <a:solidFill>
                <a:srgbClr val="D64545"/>
              </a:solidFill>
              <a:effectLst/>
            </c:spPr>
          </c:dPt>
          <c:dPt>
            <c:idx val="1"/>
            <c:invertIfNegative val="0"/>
            <c:bubble3D val="0"/>
            <c:spPr>
              <a:solidFill>
                <a:srgbClr val="0C9A6C"/>
              </a:solidFill>
              <a:effectLst/>
            </c:spPr>
          </c:dPt>
          <c:cat>
            <c:multiLvlStrRef>
              <c:f>Sheet1!$A$2:$A$3</c:f>
              <c:multiLvlStrCache>
                <c:ptCount val="2"/>
                <c:lvl>
                  <c:pt idx="0">
                    <c:v>Last-writer-wins baseline</c:v>
                  </c:pt>
                  <c:pt idx="1">
                    <c:v>DisasterSync</c:v>
                  </c:pt>
                </c:lvl>
              </c:multiLvlStrCache>
            </c:multiLvlStrRef>
          </c:cat>
          <c:val>
            <c:numRef>
              <c:f>Sheet1!$B$2:$B$3</c:f>
              <c:numCache>
                <c:formatCode>General</c:formatCode>
                <c:ptCount val="2"/>
                <c:pt idx="0">
                  <c:v>42.2</c:v>
                </c:pt>
                <c:pt idx="1">
                  <c:v>0</c:v>
                </c:pt>
              </c:numCache>
            </c:numRef>
          </c:val>
        </c:ser>
        <c:dLbls>
          <c:numFmt formatCode="0.0" sourceLinked="0"/>
          <c:txPr>
            <a:bodyPr/>
            <a:lstStyle/>
            <a:p>
              <a:pPr>
                <a:defRPr b="1" i="0" strike="noStrike" sz="1400" u="none">
                  <a:solidFill>
                    <a:srgbClr val="0F172A"/>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578"/>
                </a:solidFill>
                <a:latin typeface="+mn-lt"/>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9525" cap="flat">
              <a:solidFill>
                <a:srgbClr val="E2E7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57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problem: a disaster cuts a region off. Our answer: it keeps working, and when the link returns nothing is lost and nothing is silently overwritten. Everything you will see today is running live on AWS Mumbai, AWS Hyderabad and Azure Singapore.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replicated system has to pick one of three outcomes when a link breaks. Two of them are bad for disaster data. The number on this slide is measured: we ran a last-writer-wins baseline through the same failures as our engine, 100 randomised trials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maps one to one to the six items in the problem statement. We verified all six on local, on Docker, and on the real AWS and Azure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Local write, pull-based sync, deterministic merge. A skewed clock cannot make a stale edit win, because we use version vectors for causality and only use clocks to pick a display value between genuinely concurrent edits. We prove that with a clock-skew scenario in the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Browser on top, three full replicas in the middle, each with its own database. Inside every node: an API gate, the event store, the merge engine, the sync manager, recovery reports and an activity log. The activity log ships to MongoDB Atlas in the background and never blocks a request. Everything deploys from one Docker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rule is written in the contract document and covered by a test. The point is not that these exact rules are universal, it is that they are explicit and deterministic, so any two regions holding the same events compute the same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cue: cut Mumbai's links, press plus once on the First Aid Kit row in Mumbai, press plus twice in Hyderabad, restore. The ledger shows both versions and the engine's own sentence. Press Auto resolve and the higher quantity is kept with the reason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Graceful degradation is not just not crashing. The system states its own level, what keeps working, and what is limited until reconnect, including how stale each region's view of its cut-off peers is. Demo cue: cut Mumbai's two links and the banner turns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conflict avoidance, the same idea as bounded counters in the research literature. Be upfront about two things: it is enforced in the application layer, not by the database engine, and a region may turn down a sale it could have made. That is the deliberate price of never overselling.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Recovery reports state what the reconnect actually did: how long the outage was, changes received and sent, conflicts found and how many were auto-resolved, and failures. Logs are written to Atlas in the background. If Atlas is unreachable the node keeps working and falls back to an in-memory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headline measurement. The baseline is a plain last-writer-wins replica set with the same API. Under identical failures it silently loses 42.2 percent of acknowledged edits. Ours loses none, and it passes every scenario in every trial.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Mumbai and Hyderabad run on AWS EC2, Singapore on an Azure VM, all from the same Docker image. The browser test drives the real dashboard: it buys through the store, cuts links, makes a concurrent edit, resolves it, and checks every region's state hash.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limits before a judge asks. Reservations are an application-layer rule today. Access control is a shared token. The partition is simulated in the app layer, which is exactly what lets us cut and restore links on demand without touching the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one-line promise. Then offer to run the live demo: cut a link, edit both sides, restore, and show the ledger.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640080"/>
            <a:ext cx="4572000" cy="274320"/>
          </a:xfrm>
          <a:prstGeom prst="rect">
            <a:avLst/>
          </a:prstGeom>
          <a:noFill/>
          <a:ln/>
        </p:spPr>
        <p:txBody>
          <a:bodyPr wrap="square" lIns="0" tIns="0" rIns="0" bIns="0" rtlCol="0" anchor="t"/>
          <a:lstStyle/>
          <a:p>
            <a:pPr indent="0" marL="0">
              <a:buNone/>
            </a:pPr>
            <a:r>
              <a:rPr lang="en-US" sz="1200" b="1" dirty="0">
                <a:solidFill>
                  <a:schemeClr val="bg2"/>
                </a:solidFill>
                <a:latin typeface="Calibri" pitchFamily="34" charset="0"/>
                <a:ea typeface="Calibri" pitchFamily="34" charset="-122"/>
                <a:cs typeface="Calibri" pitchFamily="34" charset="-120"/>
              </a:rPr>
              <a:t>CodeAstra 2.0  ·  Cloud Computing and Distributed Systems</a:t>
            </a:r>
            <a:endParaRPr lang="en-US" sz="1200" dirty="0"/>
          </a:p>
        </p:txBody>
      </p:sp>
      <p:sp>
        <p:nvSpPr>
          <p:cNvPr id="3" name="Text 1"/>
          <p:cNvSpPr txBox="1"/>
          <p:nvPr/>
        </p:nvSpPr>
        <p:spPr>
          <a:xfrm>
            <a:off x="548640" y="1188720"/>
            <a:ext cx="4572000" cy="914400"/>
          </a:xfrm>
          <a:prstGeom prst="rect">
            <a:avLst/>
          </a:prstGeom>
          <a:noFill/>
          <a:ln/>
        </p:spPr>
        <p:txBody>
          <a:bodyPr wrap="square" lIns="0" tIns="0" rIns="0" bIns="0" rtlCol="0" anchor="t"/>
          <a:lstStyle/>
          <a:p>
            <a:pPr indent="0" marL="0">
              <a:buNone/>
            </a:pPr>
            <a:r>
              <a:rPr lang="en-US" sz="5000" b="1" dirty="0">
                <a:solidFill>
                  <a:schemeClr val="bg1"/>
                </a:solidFill>
                <a:latin typeface="Calibri" pitchFamily="34" charset="0"/>
                <a:ea typeface="Calibri" pitchFamily="34" charset="-122"/>
                <a:cs typeface="Calibri" pitchFamily="34" charset="-120"/>
              </a:rPr>
              <a:t>DisasterSync</a:t>
            </a:r>
            <a:endParaRPr lang="en-US" sz="5000" dirty="0"/>
          </a:p>
        </p:txBody>
      </p:sp>
      <p:sp>
        <p:nvSpPr>
          <p:cNvPr id="4" name="Text 2"/>
          <p:cNvSpPr txBox="1"/>
          <p:nvPr/>
        </p:nvSpPr>
        <p:spPr>
          <a:xfrm>
            <a:off x="548640" y="2194560"/>
            <a:ext cx="4206240" cy="822960"/>
          </a:xfrm>
          <a:prstGeom prst="rect">
            <a:avLst/>
          </a:prstGeom>
          <a:noFill/>
          <a:ln/>
        </p:spPr>
        <p:txBody>
          <a:bodyPr wrap="square" lIns="0" tIns="0" rIns="0" bIns="0" rtlCol="0" anchor="t"/>
          <a:lstStyle/>
          <a:p>
            <a:pPr indent="0" marL="0">
              <a:buNone/>
            </a:pPr>
            <a:r>
              <a:rPr lang="en-US" sz="2200" dirty="0">
                <a:solidFill>
                  <a:schemeClr val="bg1"/>
                </a:solidFill>
                <a:latin typeface="Calibri" pitchFamily="34" charset="0"/>
                <a:ea typeface="Calibri" pitchFamily="34" charset="-122"/>
                <a:cs typeface="Calibri" pitchFamily="34" charset="-120"/>
              </a:rPr>
              <a:t>Keep writing when the link between regions breaks</a:t>
            </a:r>
            <a:endParaRPr lang="en-US" sz="2200" dirty="0"/>
          </a:p>
        </p:txBody>
      </p:sp>
      <p:sp>
        <p:nvSpPr>
          <p:cNvPr id="5" name="Text 3"/>
          <p:cNvSpPr txBox="1"/>
          <p:nvPr/>
        </p:nvSpPr>
        <p:spPr>
          <a:xfrm>
            <a:off x="548640" y="3246120"/>
            <a:ext cx="4114800" cy="73152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Geo-distributed disaster data replication with graceful degradation, running on AWS and Azure.</a:t>
            </a:r>
            <a:endParaRPr lang="en-US" sz="1400" dirty="0"/>
          </a:p>
        </p:txBody>
      </p:sp>
      <p:sp>
        <p:nvSpPr>
          <p:cNvPr id="6" name="Landing page screenshot frame"/>
          <p:cNvSpPr/>
          <p:nvPr/>
        </p:nvSpPr>
        <p:spPr>
          <a:xfrm>
            <a:off x="4946904" y="923544"/>
            <a:ext cx="3730752" cy="2424074"/>
          </a:xfrm>
          <a:prstGeom prst="roundRect">
            <a:avLst>
              <a:gd name="adj" fmla="val 2263"/>
            </a:avLst>
          </a:prstGeom>
          <a:solidFill>
            <a:schemeClr val="bg1"/>
          </a:solidFill>
          <a:ln w="9525">
            <a:solidFill>
              <a:schemeClr val="accent6">
                <a:alpha val="45000"/>
              </a:schemeClr>
            </a:solidFill>
            <a:prstDash val="solid"/>
          </a:ln>
        </p:spPr>
      </p:sp>
      <p:pic>
        <p:nvPicPr>
          <p:cNvPr id="7" name="Landing page screenshot" descr="Landing page screenshot">    </p:cNvPr>
          <p:cNvPicPr>
            <a:picLocks noChangeAspect="1"/>
          </p:cNvPicPr>
          <p:nvPr/>
        </p:nvPicPr>
        <p:blipFill>
          <a:blip r:embed="rId1"/>
          <a:stretch>
            <a:fillRect/>
          </a:stretch>
        </p:blipFill>
        <p:spPr>
          <a:xfrm>
            <a:off x="4983480" y="960120"/>
            <a:ext cx="3657600" cy="2350922"/>
          </a:xfrm>
          <a:prstGeom prst="rect">
            <a:avLst/>
          </a:prstGeom>
        </p:spPr>
      </p:pic>
      <p:sp>
        <p:nvSpPr>
          <p:cNvPr id="8" name="Text 5"/>
          <p:cNvSpPr txBox="1"/>
          <p:nvPr/>
        </p:nvSpPr>
        <p:spPr>
          <a:xfrm>
            <a:off x="4983480" y="3520440"/>
            <a:ext cx="3657600" cy="457200"/>
          </a:xfrm>
          <a:prstGeom prst="rect">
            <a:avLst/>
          </a:prstGeom>
          <a:noFill/>
          <a:ln/>
        </p:spPr>
        <p:txBody>
          <a:bodyPr wrap="square" lIns="0" tIns="0" rIns="0" bIns="0" rtlCol="0" anchor="t"/>
          <a:lstStyle/>
          <a:p>
            <a:pPr indent="0" marL="0">
              <a:buNone/>
            </a:pPr>
            <a:r>
              <a:rPr lang="en-US" sz="1200" dirty="0">
                <a:solidFill>
                  <a:schemeClr val="bg2"/>
                </a:solidFill>
                <a:latin typeface="Calibri" pitchFamily="34" charset="0"/>
                <a:ea typeface="Calibri" pitchFamily="34" charset="-122"/>
                <a:cs typeface="Calibri" pitchFamily="34" charset="-120"/>
              </a:rPr>
              <a:t>Live on three regions: Mumbai and Hyderabad (AWS), Singapore (Azure)</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t"/>
          <a:lstStyle/>
          <a:p>
            <a:pPr algn="l" indent="0" marL="0">
              <a:buNone/>
            </a:pPr>
            <a:r>
              <a:rPr lang="en-US" sz="2800" b="1" dirty="0">
                <a:solidFill>
                  <a:schemeClr val="tx1"/>
                </a:solidFill>
              </a:rPr>
              <a:t>A broken link forces a bad choice</a:t>
            </a:r>
            <a:endParaRPr lang="en-US" sz="2800" dirty="0"/>
          </a:p>
        </p:txBody>
      </p:sp>
      <p:sp>
        <p:nvSpPr>
          <p:cNvPr id="3" name="Problem card 1"/>
          <p:cNvSpPr/>
          <p:nvPr/>
        </p:nvSpPr>
        <p:spPr>
          <a:xfrm>
            <a:off x="548640" y="1325880"/>
            <a:ext cx="2560320" cy="1737360"/>
          </a:xfrm>
          <a:prstGeom prst="roundRect">
            <a:avLst>
              <a:gd name="adj" fmla="val 4211"/>
            </a:avLst>
          </a:prstGeom>
          <a:solidFill>
            <a:schemeClr val="bg2"/>
          </a:solidFill>
          <a:ln w="12700">
            <a:solidFill>
              <a:schemeClr val="bg2"/>
            </a:solidFill>
            <a:prstDash val="solid"/>
          </a:ln>
        </p:spPr>
      </p:sp>
      <p:sp>
        <p:nvSpPr>
          <p:cNvPr id="4" name="Problem number 1"/>
          <p:cNvSpPr/>
          <p:nvPr/>
        </p:nvSpPr>
        <p:spPr>
          <a:xfrm>
            <a:off x="777240" y="1554480"/>
            <a:ext cx="411480" cy="411480"/>
          </a:xfrm>
          <a:prstGeom prst="ellipse">
            <a:avLst/>
          </a:prstGeom>
          <a:solidFill>
            <a:schemeClr val="accent4"/>
          </a:solidFill>
          <a:ln w="12700">
            <a:solidFill>
              <a:schemeClr val="accent4"/>
            </a:solidFill>
            <a:prstDash val="solid"/>
          </a:ln>
        </p:spPr>
      </p:sp>
      <p:sp>
        <p:nvSpPr>
          <p:cNvPr id="5" name="Text 3"/>
          <p:cNvSpPr txBox="1"/>
          <p:nvPr/>
        </p:nvSpPr>
        <p:spPr>
          <a:xfrm>
            <a:off x="777240" y="155448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777240" y="2103120"/>
            <a:ext cx="2103120" cy="32004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Stop writing</a:t>
            </a:r>
            <a:endParaRPr lang="en-US" sz="1800" dirty="0"/>
          </a:p>
        </p:txBody>
      </p:sp>
      <p:sp>
        <p:nvSpPr>
          <p:cNvPr id="7" name="Text 5"/>
          <p:cNvSpPr txBox="1"/>
          <p:nvPr/>
        </p:nvSpPr>
        <p:spPr>
          <a:xfrm>
            <a:off x="777240" y="2468880"/>
            <a:ext cx="2148840" cy="548640"/>
          </a:xfrm>
          <a:prstGeom prst="rect">
            <a:avLst/>
          </a:prstGeom>
          <a:noFill/>
          <a:ln/>
        </p:spPr>
        <p:txBody>
          <a:bodyPr wrap="square" lIns="0" tIns="0" rIns="0" bIns="0" rtlCol="0" anchor="t"/>
          <a:lstStyle/>
          <a:p>
            <a:pPr indent="0" marL="0">
              <a:buNone/>
            </a:pPr>
            <a:r>
              <a:rPr lang="en-US" sz="1250" dirty="0">
                <a:solidFill>
                  <a:schemeClr val="accent6"/>
                </a:solidFill>
                <a:latin typeface="Calibri" pitchFamily="34" charset="0"/>
                <a:ea typeface="Calibri" pitchFamily="34" charset="-122"/>
                <a:cs typeface="Calibri" pitchFamily="34" charset="-120"/>
              </a:rPr>
              <a:t>Safe, but a region cut off by a disaster cannot record anything when it matters most.</a:t>
            </a:r>
            <a:endParaRPr lang="en-US" sz="1250" dirty="0"/>
          </a:p>
        </p:txBody>
      </p:sp>
      <p:sp>
        <p:nvSpPr>
          <p:cNvPr id="8" name="Problem card 2"/>
          <p:cNvSpPr/>
          <p:nvPr/>
        </p:nvSpPr>
        <p:spPr>
          <a:xfrm>
            <a:off x="3291840" y="1325880"/>
            <a:ext cx="2560320" cy="1737360"/>
          </a:xfrm>
          <a:prstGeom prst="roundRect">
            <a:avLst>
              <a:gd name="adj" fmla="val 4211"/>
            </a:avLst>
          </a:prstGeom>
          <a:solidFill>
            <a:schemeClr val="bg2"/>
          </a:solidFill>
          <a:ln w="12700">
            <a:solidFill>
              <a:schemeClr val="bg2"/>
            </a:solidFill>
            <a:prstDash val="solid"/>
          </a:ln>
        </p:spPr>
      </p:sp>
      <p:sp>
        <p:nvSpPr>
          <p:cNvPr id="9" name="Problem number 2"/>
          <p:cNvSpPr/>
          <p:nvPr/>
        </p:nvSpPr>
        <p:spPr>
          <a:xfrm>
            <a:off x="3520440" y="1554480"/>
            <a:ext cx="411480" cy="411480"/>
          </a:xfrm>
          <a:prstGeom prst="ellipse">
            <a:avLst/>
          </a:prstGeom>
          <a:solidFill>
            <a:schemeClr val="accent3"/>
          </a:solidFill>
          <a:ln w="12700">
            <a:solidFill>
              <a:schemeClr val="accent3"/>
            </a:solidFill>
            <a:prstDash val="solid"/>
          </a:ln>
        </p:spPr>
      </p:sp>
      <p:sp>
        <p:nvSpPr>
          <p:cNvPr id="10" name="Text 8"/>
          <p:cNvSpPr txBox="1"/>
          <p:nvPr/>
        </p:nvSpPr>
        <p:spPr>
          <a:xfrm>
            <a:off x="3520440" y="155448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1" name="Text 9"/>
          <p:cNvSpPr txBox="1"/>
          <p:nvPr/>
        </p:nvSpPr>
        <p:spPr>
          <a:xfrm>
            <a:off x="3520440" y="2103120"/>
            <a:ext cx="2103120" cy="32004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Overwrite silently</a:t>
            </a:r>
            <a:endParaRPr lang="en-US" sz="1800" dirty="0"/>
          </a:p>
        </p:txBody>
      </p:sp>
      <p:sp>
        <p:nvSpPr>
          <p:cNvPr id="12" name="Text 10"/>
          <p:cNvSpPr txBox="1"/>
          <p:nvPr/>
        </p:nvSpPr>
        <p:spPr>
          <a:xfrm>
            <a:off x="3520440" y="2468880"/>
            <a:ext cx="2148840" cy="548640"/>
          </a:xfrm>
          <a:prstGeom prst="rect">
            <a:avLst/>
          </a:prstGeom>
          <a:noFill/>
          <a:ln/>
        </p:spPr>
        <p:txBody>
          <a:bodyPr wrap="square" lIns="0" tIns="0" rIns="0" bIns="0" rtlCol="0" anchor="t"/>
          <a:lstStyle/>
          <a:p>
            <a:pPr indent="0" marL="0">
              <a:buNone/>
            </a:pPr>
            <a:r>
              <a:rPr lang="en-US" sz="1250" dirty="0">
                <a:solidFill>
                  <a:schemeClr val="accent6"/>
                </a:solidFill>
                <a:latin typeface="Calibri" pitchFamily="34" charset="0"/>
                <a:ea typeface="Calibri" pitchFamily="34" charset="-122"/>
                <a:cs typeface="Calibri" pitchFamily="34" charset="-120"/>
              </a:rPr>
              <a:t>Last write wins. The older edit just disappears and nobody is told.</a:t>
            </a:r>
            <a:endParaRPr lang="en-US" sz="1250" dirty="0"/>
          </a:p>
        </p:txBody>
      </p:sp>
      <p:sp>
        <p:nvSpPr>
          <p:cNvPr id="13" name="Problem card 3"/>
          <p:cNvSpPr/>
          <p:nvPr/>
        </p:nvSpPr>
        <p:spPr>
          <a:xfrm>
            <a:off x="6035040" y="1325880"/>
            <a:ext cx="2560320" cy="1737360"/>
          </a:xfrm>
          <a:prstGeom prst="roundRect">
            <a:avLst>
              <a:gd name="adj" fmla="val 4211"/>
            </a:avLst>
          </a:prstGeom>
          <a:solidFill>
            <a:schemeClr val="bg2"/>
          </a:solidFill>
          <a:ln w="12700">
            <a:solidFill>
              <a:schemeClr val="bg2"/>
            </a:solidFill>
            <a:prstDash val="solid"/>
          </a:ln>
        </p:spPr>
      </p:sp>
      <p:sp>
        <p:nvSpPr>
          <p:cNvPr id="14" name="Problem number 3"/>
          <p:cNvSpPr/>
          <p:nvPr/>
        </p:nvSpPr>
        <p:spPr>
          <a:xfrm>
            <a:off x="6263640" y="1554480"/>
            <a:ext cx="411480" cy="411480"/>
          </a:xfrm>
          <a:prstGeom prst="ellipse">
            <a:avLst/>
          </a:prstGeom>
          <a:solidFill>
            <a:schemeClr val="accent6"/>
          </a:solidFill>
          <a:ln w="12700">
            <a:solidFill>
              <a:schemeClr val="accent6"/>
            </a:solidFill>
            <a:prstDash val="solid"/>
          </a:ln>
        </p:spPr>
      </p:sp>
      <p:sp>
        <p:nvSpPr>
          <p:cNvPr id="15" name="Text 13"/>
          <p:cNvSpPr txBox="1"/>
          <p:nvPr/>
        </p:nvSpPr>
        <p:spPr>
          <a:xfrm>
            <a:off x="6263640" y="155448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6" name="Text 14"/>
          <p:cNvSpPr txBox="1"/>
          <p:nvPr/>
        </p:nvSpPr>
        <p:spPr>
          <a:xfrm>
            <a:off x="6263640" y="2103120"/>
            <a:ext cx="2103120" cy="32004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Drift apart</a:t>
            </a:r>
            <a:endParaRPr lang="en-US" sz="1800" dirty="0"/>
          </a:p>
        </p:txBody>
      </p:sp>
      <p:sp>
        <p:nvSpPr>
          <p:cNvPr id="17" name="Text 15"/>
          <p:cNvSpPr txBox="1"/>
          <p:nvPr/>
        </p:nvSpPr>
        <p:spPr>
          <a:xfrm>
            <a:off x="6263640" y="2468880"/>
            <a:ext cx="2148840" cy="548640"/>
          </a:xfrm>
          <a:prstGeom prst="rect">
            <a:avLst/>
          </a:prstGeom>
          <a:noFill/>
          <a:ln/>
        </p:spPr>
        <p:txBody>
          <a:bodyPr wrap="square" lIns="0" tIns="0" rIns="0" bIns="0" rtlCol="0" anchor="t"/>
          <a:lstStyle/>
          <a:p>
            <a:pPr indent="0" marL="0">
              <a:buNone/>
            </a:pPr>
            <a:r>
              <a:rPr lang="en-US" sz="1250" dirty="0">
                <a:solidFill>
                  <a:schemeClr val="accent6"/>
                </a:solidFill>
                <a:latin typeface="Calibri" pitchFamily="34" charset="0"/>
                <a:ea typeface="Calibri" pitchFamily="34" charset="-122"/>
                <a:cs typeface="Calibri" pitchFamily="34" charset="-120"/>
              </a:rPr>
              <a:t>Regions keep different versions and there is no rule for which one is right.</a:t>
            </a:r>
            <a:endParaRPr lang="en-US" sz="1250" dirty="0"/>
          </a:p>
        </p:txBody>
      </p:sp>
      <p:sp>
        <p:nvSpPr>
          <p:cNvPr id="18" name="Text 16"/>
          <p:cNvSpPr txBox="1"/>
          <p:nvPr/>
        </p:nvSpPr>
        <p:spPr>
          <a:xfrm>
            <a:off x="548640" y="3383280"/>
            <a:ext cx="2377440" cy="914400"/>
          </a:xfrm>
          <a:prstGeom prst="rect">
            <a:avLst/>
          </a:prstGeom>
          <a:noFill/>
          <a:ln/>
        </p:spPr>
        <p:txBody>
          <a:bodyPr wrap="square" lIns="0" tIns="0" rIns="0" bIns="0" rtlCol="0" anchor="t"/>
          <a:lstStyle/>
          <a:p>
            <a:pPr indent="0" marL="0">
              <a:buNone/>
            </a:pPr>
            <a:r>
              <a:rPr lang="en-US" sz="6000" b="1" dirty="0">
                <a:solidFill>
                  <a:schemeClr val="accent3"/>
                </a:solidFill>
                <a:latin typeface="Calibri" pitchFamily="34" charset="0"/>
                <a:ea typeface="Calibri" pitchFamily="34" charset="-122"/>
                <a:cs typeface="Calibri" pitchFamily="34" charset="-120"/>
              </a:rPr>
              <a:t>42.2%</a:t>
            </a:r>
            <a:endParaRPr lang="en-US" sz="6000" dirty="0"/>
          </a:p>
        </p:txBody>
      </p:sp>
      <p:sp>
        <p:nvSpPr>
          <p:cNvPr id="19" name="Text 17"/>
          <p:cNvSpPr txBox="1"/>
          <p:nvPr/>
        </p:nvSpPr>
        <p:spPr>
          <a:xfrm>
            <a:off x="3017520" y="3611880"/>
            <a:ext cx="5486400" cy="73152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of acknowledged edits silently lost by a last-writer-wins store in our 100-trial failure test. DisasterSync lost none.</a:t>
            </a: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t"/>
          <a:lstStyle/>
          <a:p>
            <a:pPr algn="l" indent="0" marL="0">
              <a:buNone/>
            </a:pPr>
            <a:r>
              <a:rPr lang="en-US" sz="2800" b="1" dirty="0">
                <a:solidFill>
                  <a:schemeClr val="tx1"/>
                </a:solidFill>
              </a:rPr>
              <a:t>Every requirement, running live</a:t>
            </a:r>
            <a:endParaRPr lang="en-US" sz="2800" dirty="0"/>
          </a:p>
        </p:txBody>
      </p:sp>
      <p:sp>
        <p:nvSpPr>
          <p:cNvPr id="3" name="Requirement 1 marker"/>
          <p:cNvSpPr/>
          <p:nvPr/>
        </p:nvSpPr>
        <p:spPr>
          <a:xfrm>
            <a:off x="548640" y="1271016"/>
            <a:ext cx="329184" cy="329184"/>
          </a:xfrm>
          <a:prstGeom prst="ellipse">
            <a:avLst/>
          </a:prstGeom>
          <a:solidFill>
            <a:schemeClr val="accent2"/>
          </a:solidFill>
          <a:ln w="12700">
            <a:solidFill>
              <a:schemeClr val="accent2"/>
            </a:solidFill>
            <a:prstDash val="solid"/>
          </a:ln>
        </p:spPr>
      </p:sp>
      <p:sp>
        <p:nvSpPr>
          <p:cNvPr id="4" name="Text 2"/>
          <p:cNvSpPr txBox="1"/>
          <p:nvPr/>
        </p:nvSpPr>
        <p:spPr>
          <a:xfrm>
            <a:off x="548640" y="1271016"/>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a:t>
            </a:r>
            <a:endParaRPr lang="en-US" sz="1300" dirty="0"/>
          </a:p>
        </p:txBody>
      </p:sp>
      <p:sp>
        <p:nvSpPr>
          <p:cNvPr id="5" name="Text 3"/>
          <p:cNvSpPr txBox="1"/>
          <p:nvPr/>
        </p:nvSpPr>
        <p:spPr>
          <a:xfrm>
            <a:off x="1051560" y="1234440"/>
            <a:ext cx="3383280" cy="402336"/>
          </a:xfrm>
          <a:prstGeom prst="rect">
            <a:avLst/>
          </a:prstGeom>
          <a:noFill/>
          <a:ln/>
        </p:spPr>
        <p:txBody>
          <a:bodyPr wrap="square" lIns="0" tIns="0" rIns="0" bIns="0" rtlCol="0" anchor="ctr"/>
          <a:lstStyle/>
          <a:p>
            <a:pPr indent="0" marL="0">
              <a:buNone/>
            </a:pPr>
            <a:r>
              <a:rPr lang="en-US" sz="1450" b="1" dirty="0">
                <a:solidFill>
                  <a:schemeClr val="tx1"/>
                </a:solidFill>
                <a:latin typeface="Calibri" pitchFamily="34" charset="0"/>
                <a:ea typeface="Calibri" pitchFamily="34" charset="-122"/>
                <a:cs typeface="Calibri" pitchFamily="34" charset="-120"/>
              </a:rPr>
              <a:t>Two or more servers, separate databases</a:t>
            </a:r>
            <a:endParaRPr lang="en-US" sz="1450" dirty="0"/>
          </a:p>
        </p:txBody>
      </p:sp>
      <p:sp>
        <p:nvSpPr>
          <p:cNvPr id="6" name="Text 4"/>
          <p:cNvSpPr txBox="1"/>
          <p:nvPr/>
        </p:nvSpPr>
        <p:spPr>
          <a:xfrm>
            <a:off x="4526280" y="1234440"/>
            <a:ext cx="4114800" cy="402336"/>
          </a:xfrm>
          <a:prstGeom prst="rect">
            <a:avLst/>
          </a:prstGeom>
          <a:noFill/>
          <a:ln/>
        </p:spPr>
        <p:txBody>
          <a:bodyPr wrap="square" lIns="0" tIns="0" rIns="0" bIns="0" rtlCol="0" anchor="ctr"/>
          <a:lstStyle/>
          <a:p>
            <a:pPr indent="0" marL="0">
              <a:buNone/>
            </a:pPr>
            <a:r>
              <a:rPr lang="en-US" sz="1300" dirty="0">
                <a:solidFill>
                  <a:schemeClr val="accent6"/>
                </a:solidFill>
                <a:latin typeface="Calibri" pitchFamily="34" charset="0"/>
                <a:ea typeface="Calibri" pitchFamily="34" charset="-122"/>
                <a:cs typeface="Calibri" pitchFamily="34" charset="-120"/>
              </a:rPr>
              <a:t>Mumbai, Hyderabad (AWS) and Singapore (Azure), each with its own event log</a:t>
            </a:r>
            <a:endParaRPr lang="en-US" sz="1300" dirty="0"/>
          </a:p>
        </p:txBody>
      </p:sp>
      <p:sp>
        <p:nvSpPr>
          <p:cNvPr id="7" name="Requirement 2 marker"/>
          <p:cNvSpPr/>
          <p:nvPr/>
        </p:nvSpPr>
        <p:spPr>
          <a:xfrm>
            <a:off x="548640" y="1856232"/>
            <a:ext cx="329184" cy="329184"/>
          </a:xfrm>
          <a:prstGeom prst="ellipse">
            <a:avLst/>
          </a:prstGeom>
          <a:solidFill>
            <a:schemeClr val="accent2"/>
          </a:solidFill>
          <a:ln w="12700">
            <a:solidFill>
              <a:schemeClr val="accent2"/>
            </a:solidFill>
            <a:prstDash val="solid"/>
          </a:ln>
        </p:spPr>
      </p:sp>
      <p:sp>
        <p:nvSpPr>
          <p:cNvPr id="8" name="Text 6"/>
          <p:cNvSpPr txBox="1"/>
          <p:nvPr/>
        </p:nvSpPr>
        <p:spPr>
          <a:xfrm>
            <a:off x="548640" y="1856232"/>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a:t>
            </a:r>
            <a:endParaRPr lang="en-US" sz="1300" dirty="0"/>
          </a:p>
        </p:txBody>
      </p:sp>
      <p:sp>
        <p:nvSpPr>
          <p:cNvPr id="9" name="Text 7"/>
          <p:cNvSpPr txBox="1"/>
          <p:nvPr/>
        </p:nvSpPr>
        <p:spPr>
          <a:xfrm>
            <a:off x="1051560" y="1819656"/>
            <a:ext cx="3383280" cy="402336"/>
          </a:xfrm>
          <a:prstGeom prst="rect">
            <a:avLst/>
          </a:prstGeom>
          <a:noFill/>
          <a:ln/>
        </p:spPr>
        <p:txBody>
          <a:bodyPr wrap="square" lIns="0" tIns="0" rIns="0" bIns="0" rtlCol="0" anchor="ctr"/>
          <a:lstStyle/>
          <a:p>
            <a:pPr indent="0" marL="0">
              <a:buNone/>
            </a:pPr>
            <a:r>
              <a:rPr lang="en-US" sz="1450" b="1" dirty="0">
                <a:solidFill>
                  <a:schemeClr val="tx1"/>
                </a:solidFill>
                <a:latin typeface="Calibri" pitchFamily="34" charset="0"/>
                <a:ea typeface="Calibri" pitchFamily="34" charset="-122"/>
                <a:cs typeface="Calibri" pitchFamily="34" charset="-120"/>
              </a:rPr>
              <a:t>Simulate connection loss, servers stay up</a:t>
            </a:r>
            <a:endParaRPr lang="en-US" sz="1450" dirty="0"/>
          </a:p>
        </p:txBody>
      </p:sp>
      <p:sp>
        <p:nvSpPr>
          <p:cNvPr id="10" name="Text 8"/>
          <p:cNvSpPr txBox="1"/>
          <p:nvPr/>
        </p:nvSpPr>
        <p:spPr>
          <a:xfrm>
            <a:off x="4526280" y="1819656"/>
            <a:ext cx="4114800" cy="402336"/>
          </a:xfrm>
          <a:prstGeom prst="rect">
            <a:avLst/>
          </a:prstGeom>
          <a:noFill/>
          <a:ln/>
        </p:spPr>
        <p:txBody>
          <a:bodyPr wrap="square" lIns="0" tIns="0" rIns="0" bIns="0" rtlCol="0" anchor="ctr"/>
          <a:lstStyle/>
          <a:p>
            <a:pPr indent="0" marL="0">
              <a:buNone/>
            </a:pPr>
            <a:r>
              <a:rPr lang="en-US" sz="1300" dirty="0">
                <a:solidFill>
                  <a:schemeClr val="accent6"/>
                </a:solidFill>
                <a:latin typeface="Calibri" pitchFamily="34" charset="0"/>
                <a:ea typeface="Calibri" pitchFamily="34" charset="-122"/>
                <a:cs typeface="Calibri" pitchFamily="34" charset="-120"/>
              </a:rPr>
              <a:t>Cut any link from the dashboard; no server is shut down</a:t>
            </a:r>
            <a:endParaRPr lang="en-US" sz="1300" dirty="0"/>
          </a:p>
        </p:txBody>
      </p:sp>
      <p:sp>
        <p:nvSpPr>
          <p:cNvPr id="11" name="Requirement 3 marker"/>
          <p:cNvSpPr/>
          <p:nvPr/>
        </p:nvSpPr>
        <p:spPr>
          <a:xfrm>
            <a:off x="548640" y="2441448"/>
            <a:ext cx="329184" cy="329184"/>
          </a:xfrm>
          <a:prstGeom prst="ellipse">
            <a:avLst/>
          </a:prstGeom>
          <a:solidFill>
            <a:schemeClr val="accent2"/>
          </a:solidFill>
          <a:ln w="12700">
            <a:solidFill>
              <a:schemeClr val="accent2"/>
            </a:solidFill>
            <a:prstDash val="solid"/>
          </a:ln>
        </p:spPr>
      </p:sp>
      <p:sp>
        <p:nvSpPr>
          <p:cNvPr id="12" name="Text 10"/>
          <p:cNvSpPr txBox="1"/>
          <p:nvPr/>
        </p:nvSpPr>
        <p:spPr>
          <a:xfrm>
            <a:off x="548640" y="244144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a:t>
            </a:r>
            <a:endParaRPr lang="en-US" sz="1300" dirty="0"/>
          </a:p>
        </p:txBody>
      </p:sp>
      <p:sp>
        <p:nvSpPr>
          <p:cNvPr id="13" name="Text 11"/>
          <p:cNvSpPr txBox="1"/>
          <p:nvPr/>
        </p:nvSpPr>
        <p:spPr>
          <a:xfrm>
            <a:off x="1051560" y="2404872"/>
            <a:ext cx="3383280" cy="402336"/>
          </a:xfrm>
          <a:prstGeom prst="rect">
            <a:avLst/>
          </a:prstGeom>
          <a:noFill/>
          <a:ln/>
        </p:spPr>
        <p:txBody>
          <a:bodyPr wrap="square" lIns="0" tIns="0" rIns="0" bIns="0" rtlCol="0" anchor="ctr"/>
          <a:lstStyle/>
          <a:p>
            <a:pPr indent="0" marL="0">
              <a:buNone/>
            </a:pPr>
            <a:r>
              <a:rPr lang="en-US" sz="1450" b="1" dirty="0">
                <a:solidFill>
                  <a:schemeClr val="tx1"/>
                </a:solidFill>
                <a:latin typeface="Calibri" pitchFamily="34" charset="0"/>
                <a:ea typeface="Calibri" pitchFamily="34" charset="-122"/>
                <a:cs typeface="Calibri" pitchFamily="34" charset="-120"/>
              </a:rPr>
              <a:t>Local writes during the partition</a:t>
            </a:r>
            <a:endParaRPr lang="en-US" sz="1450" dirty="0"/>
          </a:p>
        </p:txBody>
      </p:sp>
      <p:sp>
        <p:nvSpPr>
          <p:cNvPr id="14" name="Text 12"/>
          <p:cNvSpPr txBox="1"/>
          <p:nvPr/>
        </p:nvSpPr>
        <p:spPr>
          <a:xfrm>
            <a:off x="4526280" y="2404872"/>
            <a:ext cx="4114800" cy="402336"/>
          </a:xfrm>
          <a:prstGeom prst="rect">
            <a:avLst/>
          </a:prstGeom>
          <a:noFill/>
          <a:ln/>
        </p:spPr>
        <p:txBody>
          <a:bodyPr wrap="square" lIns="0" tIns="0" rIns="0" bIns="0" rtlCol="0" anchor="ctr"/>
          <a:lstStyle/>
          <a:p>
            <a:pPr indent="0" marL="0">
              <a:buNone/>
            </a:pPr>
            <a:r>
              <a:rPr lang="en-US" sz="1300" dirty="0">
                <a:solidFill>
                  <a:schemeClr val="accent6"/>
                </a:solidFill>
                <a:latin typeface="Calibri" pitchFamily="34" charset="0"/>
                <a:ea typeface="Calibri" pitchFamily="34" charset="-122"/>
                <a:cs typeface="Calibri" pitchFamily="34" charset="-120"/>
              </a:rPr>
              <a:t>Every region keeps accepting and storing writes</a:t>
            </a:r>
            <a:endParaRPr lang="en-US" sz="1300" dirty="0"/>
          </a:p>
        </p:txBody>
      </p:sp>
      <p:sp>
        <p:nvSpPr>
          <p:cNvPr id="15" name="Requirement 4 marker"/>
          <p:cNvSpPr/>
          <p:nvPr/>
        </p:nvSpPr>
        <p:spPr>
          <a:xfrm>
            <a:off x="548640" y="3026664"/>
            <a:ext cx="329184" cy="329184"/>
          </a:xfrm>
          <a:prstGeom prst="ellipse">
            <a:avLst/>
          </a:prstGeom>
          <a:solidFill>
            <a:schemeClr val="accent2"/>
          </a:solidFill>
          <a:ln w="12700">
            <a:solidFill>
              <a:schemeClr val="accent2"/>
            </a:solidFill>
            <a:prstDash val="solid"/>
          </a:ln>
        </p:spPr>
      </p:sp>
      <p:sp>
        <p:nvSpPr>
          <p:cNvPr id="16" name="Text 14"/>
          <p:cNvSpPr txBox="1"/>
          <p:nvPr/>
        </p:nvSpPr>
        <p:spPr>
          <a:xfrm>
            <a:off x="548640" y="3026664"/>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a:t>
            </a:r>
            <a:endParaRPr lang="en-US" sz="1300" dirty="0"/>
          </a:p>
        </p:txBody>
      </p:sp>
      <p:sp>
        <p:nvSpPr>
          <p:cNvPr id="17" name="Text 15"/>
          <p:cNvSpPr txBox="1"/>
          <p:nvPr/>
        </p:nvSpPr>
        <p:spPr>
          <a:xfrm>
            <a:off x="1051560" y="2990088"/>
            <a:ext cx="3383280" cy="402336"/>
          </a:xfrm>
          <a:prstGeom prst="rect">
            <a:avLst/>
          </a:prstGeom>
          <a:noFill/>
          <a:ln/>
        </p:spPr>
        <p:txBody>
          <a:bodyPr wrap="square" lIns="0" tIns="0" rIns="0" bIns="0" rtlCol="0" anchor="ctr"/>
          <a:lstStyle/>
          <a:p>
            <a:pPr indent="0" marL="0">
              <a:buNone/>
            </a:pPr>
            <a:r>
              <a:rPr lang="en-US" sz="1450" b="1" dirty="0">
                <a:solidFill>
                  <a:schemeClr val="tx1"/>
                </a:solidFill>
                <a:latin typeface="Calibri" pitchFamily="34" charset="0"/>
                <a:ea typeface="Calibri" pitchFamily="34" charset="-122"/>
                <a:cs typeface="Calibri" pitchFamily="34" charset="-120"/>
              </a:rPr>
              <a:t>Replicate on reconnect</a:t>
            </a:r>
            <a:endParaRPr lang="en-US" sz="1450" dirty="0"/>
          </a:p>
        </p:txBody>
      </p:sp>
      <p:sp>
        <p:nvSpPr>
          <p:cNvPr id="18" name="Text 16"/>
          <p:cNvSpPr txBox="1"/>
          <p:nvPr/>
        </p:nvSpPr>
        <p:spPr>
          <a:xfrm>
            <a:off x="4526280" y="2990088"/>
            <a:ext cx="4114800" cy="402336"/>
          </a:xfrm>
          <a:prstGeom prst="rect">
            <a:avLst/>
          </a:prstGeom>
          <a:noFill/>
          <a:ln/>
        </p:spPr>
        <p:txBody>
          <a:bodyPr wrap="square" lIns="0" tIns="0" rIns="0" bIns="0" rtlCol="0" anchor="ctr"/>
          <a:lstStyle/>
          <a:p>
            <a:pPr indent="0" marL="0">
              <a:buNone/>
            </a:pPr>
            <a:r>
              <a:rPr lang="en-US" sz="1300" dirty="0">
                <a:solidFill>
                  <a:schemeClr val="accent6"/>
                </a:solidFill>
                <a:latin typeface="Calibri" pitchFamily="34" charset="0"/>
                <a:ea typeface="Calibri" pitchFamily="34" charset="-122"/>
                <a:cs typeface="Calibri" pitchFamily="34" charset="-120"/>
              </a:rPr>
              <a:t>Regions pull what they are missing, in order, safely repeatable</a:t>
            </a:r>
            <a:endParaRPr lang="en-US" sz="1300" dirty="0"/>
          </a:p>
        </p:txBody>
      </p:sp>
      <p:sp>
        <p:nvSpPr>
          <p:cNvPr id="19" name="Requirement 5 marker"/>
          <p:cNvSpPr/>
          <p:nvPr/>
        </p:nvSpPr>
        <p:spPr>
          <a:xfrm>
            <a:off x="548640" y="3611880"/>
            <a:ext cx="329184" cy="329184"/>
          </a:xfrm>
          <a:prstGeom prst="ellipse">
            <a:avLst/>
          </a:prstGeom>
          <a:solidFill>
            <a:schemeClr val="accent2"/>
          </a:solidFill>
          <a:ln w="12700">
            <a:solidFill>
              <a:schemeClr val="accent2"/>
            </a:solidFill>
            <a:prstDash val="solid"/>
          </a:ln>
        </p:spPr>
      </p:sp>
      <p:sp>
        <p:nvSpPr>
          <p:cNvPr id="20" name="Text 18"/>
          <p:cNvSpPr txBox="1"/>
          <p:nvPr/>
        </p:nvSpPr>
        <p:spPr>
          <a:xfrm>
            <a:off x="548640" y="361188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a:t>
            </a:r>
            <a:endParaRPr lang="en-US" sz="1300" dirty="0"/>
          </a:p>
        </p:txBody>
      </p:sp>
      <p:sp>
        <p:nvSpPr>
          <p:cNvPr id="21" name="Text 19"/>
          <p:cNvSpPr txBox="1"/>
          <p:nvPr/>
        </p:nvSpPr>
        <p:spPr>
          <a:xfrm>
            <a:off x="1051560" y="3575304"/>
            <a:ext cx="3383280" cy="402336"/>
          </a:xfrm>
          <a:prstGeom prst="rect">
            <a:avLst/>
          </a:prstGeom>
          <a:noFill/>
          <a:ln/>
        </p:spPr>
        <p:txBody>
          <a:bodyPr wrap="square" lIns="0" tIns="0" rIns="0" bIns="0" rtlCol="0" anchor="ctr"/>
          <a:lstStyle/>
          <a:p>
            <a:pPr indent="0" marL="0">
              <a:buNone/>
            </a:pPr>
            <a:r>
              <a:rPr lang="en-US" sz="1450" b="1" dirty="0">
                <a:solidFill>
                  <a:schemeClr val="tx1"/>
                </a:solidFill>
                <a:latin typeface="Calibri" pitchFamily="34" charset="0"/>
                <a:ea typeface="Calibri" pitchFamily="34" charset="-122"/>
                <a:cs typeface="Calibri" pitchFamily="34" charset="-120"/>
              </a:rPr>
              <a:t>Documented conflict resolution</a:t>
            </a:r>
            <a:endParaRPr lang="en-US" sz="1450" dirty="0"/>
          </a:p>
        </p:txBody>
      </p:sp>
      <p:sp>
        <p:nvSpPr>
          <p:cNvPr id="22" name="Text 20"/>
          <p:cNvSpPr txBox="1"/>
          <p:nvPr/>
        </p:nvSpPr>
        <p:spPr>
          <a:xfrm>
            <a:off x="4526280" y="3575304"/>
            <a:ext cx="4114800" cy="402336"/>
          </a:xfrm>
          <a:prstGeom prst="rect">
            <a:avLst/>
          </a:prstGeom>
          <a:noFill/>
          <a:ln/>
        </p:spPr>
        <p:txBody>
          <a:bodyPr wrap="square" lIns="0" tIns="0" rIns="0" bIns="0" rtlCol="0" anchor="ctr"/>
          <a:lstStyle/>
          <a:p>
            <a:pPr indent="0" marL="0">
              <a:buNone/>
            </a:pPr>
            <a:r>
              <a:rPr lang="en-US" sz="1300" dirty="0">
                <a:solidFill>
                  <a:schemeClr val="accent6"/>
                </a:solidFill>
                <a:latin typeface="Calibri" pitchFamily="34" charset="0"/>
                <a:ea typeface="Calibri" pitchFamily="34" charset="-122"/>
                <a:cs typeface="Calibri" pitchFamily="34" charset="-120"/>
              </a:rPr>
              <a:t>Deterministic rules; every conflict kept, explained and visible</a:t>
            </a:r>
            <a:endParaRPr lang="en-US" sz="1300" dirty="0"/>
          </a:p>
        </p:txBody>
      </p:sp>
      <p:sp>
        <p:nvSpPr>
          <p:cNvPr id="23" name="Requirement 6 marker"/>
          <p:cNvSpPr/>
          <p:nvPr/>
        </p:nvSpPr>
        <p:spPr>
          <a:xfrm>
            <a:off x="548640" y="4197096"/>
            <a:ext cx="329184" cy="329184"/>
          </a:xfrm>
          <a:prstGeom prst="ellipse">
            <a:avLst/>
          </a:prstGeom>
          <a:solidFill>
            <a:schemeClr val="accent2"/>
          </a:solidFill>
          <a:ln w="12700">
            <a:solidFill>
              <a:schemeClr val="accent2"/>
            </a:solidFill>
            <a:prstDash val="solid"/>
          </a:ln>
        </p:spPr>
      </p:sp>
      <p:sp>
        <p:nvSpPr>
          <p:cNvPr id="24" name="Text 22"/>
          <p:cNvSpPr txBox="1"/>
          <p:nvPr/>
        </p:nvSpPr>
        <p:spPr>
          <a:xfrm>
            <a:off x="548640" y="4197096"/>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a:t>
            </a:r>
            <a:endParaRPr lang="en-US" sz="1300" dirty="0"/>
          </a:p>
        </p:txBody>
      </p:sp>
      <p:sp>
        <p:nvSpPr>
          <p:cNvPr id="25" name="Text 23"/>
          <p:cNvSpPr txBox="1"/>
          <p:nvPr/>
        </p:nvSpPr>
        <p:spPr>
          <a:xfrm>
            <a:off x="1051560" y="4160520"/>
            <a:ext cx="3383280" cy="402336"/>
          </a:xfrm>
          <a:prstGeom prst="rect">
            <a:avLst/>
          </a:prstGeom>
          <a:noFill/>
          <a:ln/>
        </p:spPr>
        <p:txBody>
          <a:bodyPr wrap="square" lIns="0" tIns="0" rIns="0" bIns="0" rtlCol="0" anchor="ctr"/>
          <a:lstStyle/>
          <a:p>
            <a:pPr indent="0" marL="0">
              <a:buNone/>
            </a:pPr>
            <a:r>
              <a:rPr lang="en-US" sz="1450" b="1" dirty="0">
                <a:solidFill>
                  <a:schemeClr val="tx1"/>
                </a:solidFill>
                <a:latin typeface="Calibri" pitchFamily="34" charset="0"/>
                <a:ea typeface="Calibri" pitchFamily="34" charset="-122"/>
                <a:cs typeface="Calibri" pitchFamily="34" charset="-120"/>
              </a:rPr>
              <a:t>Status dashboard</a:t>
            </a:r>
            <a:endParaRPr lang="en-US" sz="1450" dirty="0"/>
          </a:p>
        </p:txBody>
      </p:sp>
      <p:sp>
        <p:nvSpPr>
          <p:cNvPr id="26" name="Text 24"/>
          <p:cNvSpPr txBox="1"/>
          <p:nvPr/>
        </p:nvSpPr>
        <p:spPr>
          <a:xfrm>
            <a:off x="4526280" y="4160520"/>
            <a:ext cx="4114800" cy="402336"/>
          </a:xfrm>
          <a:prstGeom prst="rect">
            <a:avLst/>
          </a:prstGeom>
          <a:noFill/>
          <a:ln/>
        </p:spPr>
        <p:txBody>
          <a:bodyPr wrap="square" lIns="0" tIns="0" rIns="0" bIns="0" rtlCol="0" anchor="ctr"/>
          <a:lstStyle/>
          <a:p>
            <a:pPr indent="0" marL="0">
              <a:buNone/>
            </a:pPr>
            <a:r>
              <a:rPr lang="en-US" sz="1300" dirty="0">
                <a:solidFill>
                  <a:schemeClr val="accent6"/>
                </a:solidFill>
                <a:latin typeface="Calibri" pitchFamily="34" charset="0"/>
                <a:ea typeface="Calibri" pitchFamily="34" charset="-122"/>
                <a:cs typeface="Calibri" pitchFamily="34" charset="-120"/>
              </a:rPr>
              <a:t>Mode, sync age, queues, state hash, logs and recovery reports</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t"/>
          <a:lstStyle/>
          <a:p>
            <a:pPr algn="l" indent="0" marL="0">
              <a:buNone/>
            </a:pPr>
            <a:r>
              <a:rPr lang="en-US" sz="2800" b="1" dirty="0">
                <a:solidFill>
                  <a:schemeClr val="tx1"/>
                </a:solidFill>
              </a:rPr>
              <a:t>Three ideas make it safe</a:t>
            </a:r>
            <a:endParaRPr lang="en-US" sz="2800" dirty="0"/>
          </a:p>
        </p:txBody>
      </p:sp>
      <p:sp>
        <p:nvSpPr>
          <p:cNvPr id="3" name="Step card 1"/>
          <p:cNvSpPr/>
          <p:nvPr/>
        </p:nvSpPr>
        <p:spPr>
          <a:xfrm>
            <a:off x="548640" y="1325880"/>
            <a:ext cx="2560320" cy="2468880"/>
          </a:xfrm>
          <a:prstGeom prst="roundRect">
            <a:avLst>
              <a:gd name="adj" fmla="val 2963"/>
            </a:avLst>
          </a:prstGeom>
          <a:solidFill>
            <a:schemeClr val="bg2"/>
          </a:solidFill>
          <a:ln w="12700">
            <a:solidFill>
              <a:schemeClr val="bg2"/>
            </a:solidFill>
            <a:prstDash val="solid"/>
          </a:ln>
        </p:spPr>
      </p:sp>
      <p:sp>
        <p:nvSpPr>
          <p:cNvPr id="4" name="Text 2"/>
          <p:cNvSpPr txBox="1"/>
          <p:nvPr/>
        </p:nvSpPr>
        <p:spPr>
          <a:xfrm>
            <a:off x="777240" y="1508760"/>
            <a:ext cx="914400" cy="365760"/>
          </a:xfrm>
          <a:prstGeom prst="rect">
            <a:avLst/>
          </a:prstGeom>
          <a:noFill/>
          <a:ln/>
        </p:spPr>
        <p:txBody>
          <a:bodyPr wrap="square" lIns="0" tIns="0" rIns="0" bIns="0" rtlCol="0" anchor="t"/>
          <a:lstStyle/>
          <a:p>
            <a:pPr indent="0" marL="0">
              <a:buNone/>
            </a:pPr>
            <a:r>
              <a:rPr lang="en-US" sz="1800" b="1" dirty="0">
                <a:solidFill>
                  <a:schemeClr val="accent1"/>
                </a:solidFill>
                <a:latin typeface="Calibri" pitchFamily="34" charset="0"/>
                <a:ea typeface="Calibri" pitchFamily="34" charset="-122"/>
                <a:cs typeface="Calibri" pitchFamily="34" charset="-120"/>
              </a:rPr>
              <a:t>01</a:t>
            </a:r>
            <a:endParaRPr lang="en-US" sz="1800" dirty="0"/>
          </a:p>
        </p:txBody>
      </p:sp>
      <p:sp>
        <p:nvSpPr>
          <p:cNvPr id="5" name="Text 3"/>
          <p:cNvSpPr txBox="1"/>
          <p:nvPr/>
        </p:nvSpPr>
        <p:spPr>
          <a:xfrm>
            <a:off x="777240" y="1920240"/>
            <a:ext cx="2103120" cy="36576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Write locally</a:t>
            </a:r>
            <a:endParaRPr lang="en-US" sz="1800" dirty="0"/>
          </a:p>
        </p:txBody>
      </p:sp>
      <p:sp>
        <p:nvSpPr>
          <p:cNvPr id="6" name="Text 4"/>
          <p:cNvSpPr txBox="1"/>
          <p:nvPr/>
        </p:nvSpPr>
        <p:spPr>
          <a:xfrm>
            <a:off x="777240" y="2331720"/>
            <a:ext cx="2103120" cy="1005840"/>
          </a:xfrm>
          <a:prstGeom prst="rect">
            <a:avLst/>
          </a:prstGeom>
          <a:noFill/>
          <a:ln/>
        </p:spPr>
        <p:txBody>
          <a:bodyPr wrap="square" lIns="0" tIns="0" rIns="0" bIns="0" rtlCol="0" anchor="t"/>
          <a:lstStyle/>
          <a:p>
            <a:pPr indent="0" marL="0">
              <a:buNone/>
            </a:pPr>
            <a:r>
              <a:rPr lang="en-US" sz="1250" dirty="0">
                <a:solidFill>
                  <a:schemeClr val="accent6"/>
                </a:solidFill>
                <a:latin typeface="Calibri" pitchFamily="34" charset="0"/>
                <a:ea typeface="Calibri" pitchFamily="34" charset="-122"/>
                <a:cs typeface="Calibri" pitchFamily="34" charset="-120"/>
              </a:rPr>
              <a:t>Each region appends changes to its own tamper-evident log. Nothing waits for the network.</a:t>
            </a:r>
            <a:endParaRPr lang="en-US" sz="1250" dirty="0"/>
          </a:p>
        </p:txBody>
      </p:sp>
      <p:sp>
        <p:nvSpPr>
          <p:cNvPr id="7" name="Text 5"/>
          <p:cNvSpPr txBox="1"/>
          <p:nvPr/>
        </p:nvSpPr>
        <p:spPr>
          <a:xfrm>
            <a:off x="777240" y="3383280"/>
            <a:ext cx="2148840" cy="274320"/>
          </a:xfrm>
          <a:prstGeom prst="rect">
            <a:avLst/>
          </a:prstGeom>
          <a:noFill/>
          <a:ln/>
        </p:spPr>
        <p:txBody>
          <a:bodyPr wrap="square" lIns="0" tIns="0" rIns="0" bIns="0" rtlCol="0" anchor="t"/>
          <a:lstStyle/>
          <a:p>
            <a:pPr indent="0" marL="0">
              <a:buNone/>
            </a:pPr>
            <a:r>
              <a:rPr lang="en-US" sz="1100" b="1" dirty="0">
                <a:solidFill>
                  <a:schemeClr val="accent1"/>
                </a:solidFill>
                <a:latin typeface="Calibri" pitchFamily="34" charset="0"/>
                <a:ea typeface="Calibri" pitchFamily="34" charset="-122"/>
                <a:cs typeface="Calibri" pitchFamily="34" charset="-120"/>
              </a:rPr>
              <a:t>Append-only, hash-chained events</a:t>
            </a:r>
            <a:endParaRPr lang="en-US" sz="1100" dirty="0"/>
          </a:p>
        </p:txBody>
      </p:sp>
      <p:sp>
        <p:nvSpPr>
          <p:cNvPr id="8" name="Step card 2"/>
          <p:cNvSpPr/>
          <p:nvPr/>
        </p:nvSpPr>
        <p:spPr>
          <a:xfrm>
            <a:off x="3291840" y="1325880"/>
            <a:ext cx="2560320" cy="2468880"/>
          </a:xfrm>
          <a:prstGeom prst="roundRect">
            <a:avLst>
              <a:gd name="adj" fmla="val 2963"/>
            </a:avLst>
          </a:prstGeom>
          <a:solidFill>
            <a:schemeClr val="bg2"/>
          </a:solidFill>
          <a:ln w="12700">
            <a:solidFill>
              <a:schemeClr val="bg2"/>
            </a:solidFill>
            <a:prstDash val="solid"/>
          </a:ln>
        </p:spPr>
      </p:sp>
      <p:sp>
        <p:nvSpPr>
          <p:cNvPr id="9" name="Text 7"/>
          <p:cNvSpPr txBox="1"/>
          <p:nvPr/>
        </p:nvSpPr>
        <p:spPr>
          <a:xfrm>
            <a:off x="3520440" y="1508760"/>
            <a:ext cx="914400" cy="365760"/>
          </a:xfrm>
          <a:prstGeom prst="rect">
            <a:avLst/>
          </a:prstGeom>
          <a:noFill/>
          <a:ln/>
        </p:spPr>
        <p:txBody>
          <a:bodyPr wrap="square" lIns="0" tIns="0" rIns="0" bIns="0" rtlCol="0" anchor="t"/>
          <a:lstStyle/>
          <a:p>
            <a:pPr indent="0" marL="0">
              <a:buNone/>
            </a:pPr>
            <a:r>
              <a:rPr lang="en-US" sz="1800" b="1" dirty="0">
                <a:solidFill>
                  <a:schemeClr val="accent1"/>
                </a:solidFill>
                <a:latin typeface="Calibri" pitchFamily="34" charset="0"/>
                <a:ea typeface="Calibri" pitchFamily="34" charset="-122"/>
                <a:cs typeface="Calibri" pitchFamily="34" charset="-120"/>
              </a:rPr>
              <a:t>02</a:t>
            </a:r>
            <a:endParaRPr lang="en-US" sz="1800" dirty="0"/>
          </a:p>
        </p:txBody>
      </p:sp>
      <p:sp>
        <p:nvSpPr>
          <p:cNvPr id="10" name="Text 8"/>
          <p:cNvSpPr txBox="1"/>
          <p:nvPr/>
        </p:nvSpPr>
        <p:spPr>
          <a:xfrm>
            <a:off x="3520440" y="1920240"/>
            <a:ext cx="2103120" cy="36576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Pull what is missing</a:t>
            </a:r>
            <a:endParaRPr lang="en-US" sz="1800" dirty="0"/>
          </a:p>
        </p:txBody>
      </p:sp>
      <p:sp>
        <p:nvSpPr>
          <p:cNvPr id="11" name="Text 9"/>
          <p:cNvSpPr txBox="1"/>
          <p:nvPr/>
        </p:nvSpPr>
        <p:spPr>
          <a:xfrm>
            <a:off x="3520440" y="2331720"/>
            <a:ext cx="2103120" cy="1005840"/>
          </a:xfrm>
          <a:prstGeom prst="rect">
            <a:avLst/>
          </a:prstGeom>
          <a:noFill/>
          <a:ln/>
        </p:spPr>
        <p:txBody>
          <a:bodyPr wrap="square" lIns="0" tIns="0" rIns="0" bIns="0" rtlCol="0" anchor="t"/>
          <a:lstStyle/>
          <a:p>
            <a:pPr indent="0" marL="0">
              <a:buNone/>
            </a:pPr>
            <a:r>
              <a:rPr lang="en-US" sz="1250" dirty="0">
                <a:solidFill>
                  <a:schemeClr val="accent6"/>
                </a:solidFill>
                <a:latin typeface="Calibri" pitchFamily="34" charset="0"/>
                <a:ea typeface="Calibri" pitchFamily="34" charset="-122"/>
                <a:cs typeface="Calibri" pitchFamily="34" charset="-120"/>
              </a:rPr>
              <a:t>Regions ask peers for the events they have not seen. Order is kept and repeats are harmless.</a:t>
            </a:r>
            <a:endParaRPr lang="en-US" sz="1250" dirty="0"/>
          </a:p>
        </p:txBody>
      </p:sp>
      <p:sp>
        <p:nvSpPr>
          <p:cNvPr id="12" name="Text 10"/>
          <p:cNvSpPr txBox="1"/>
          <p:nvPr/>
        </p:nvSpPr>
        <p:spPr>
          <a:xfrm>
            <a:off x="3520440" y="3383280"/>
            <a:ext cx="2148840" cy="274320"/>
          </a:xfrm>
          <a:prstGeom prst="rect">
            <a:avLst/>
          </a:prstGeom>
          <a:noFill/>
          <a:ln/>
        </p:spPr>
        <p:txBody>
          <a:bodyPr wrap="square" lIns="0" tIns="0" rIns="0" bIns="0" rtlCol="0" anchor="t"/>
          <a:lstStyle/>
          <a:p>
            <a:pPr indent="0" marL="0">
              <a:buNone/>
            </a:pPr>
            <a:r>
              <a:rPr lang="en-US" sz="1100" b="1" dirty="0">
                <a:solidFill>
                  <a:schemeClr val="accent1"/>
                </a:solidFill>
                <a:latin typeface="Calibri" pitchFamily="34" charset="0"/>
                <a:ea typeface="Calibri" pitchFamily="34" charset="-122"/>
                <a:cs typeface="Calibri" pitchFamily="34" charset="-120"/>
              </a:rPr>
              <a:t>Version vectors, per-origin order</a:t>
            </a:r>
            <a:endParaRPr lang="en-US" sz="1100" dirty="0"/>
          </a:p>
        </p:txBody>
      </p:sp>
      <p:sp>
        <p:nvSpPr>
          <p:cNvPr id="13" name="Step card 3"/>
          <p:cNvSpPr/>
          <p:nvPr/>
        </p:nvSpPr>
        <p:spPr>
          <a:xfrm>
            <a:off x="6035040" y="1325880"/>
            <a:ext cx="2560320" cy="2468880"/>
          </a:xfrm>
          <a:prstGeom prst="roundRect">
            <a:avLst>
              <a:gd name="adj" fmla="val 2963"/>
            </a:avLst>
          </a:prstGeom>
          <a:solidFill>
            <a:schemeClr val="bg2"/>
          </a:solidFill>
          <a:ln w="12700">
            <a:solidFill>
              <a:schemeClr val="bg2"/>
            </a:solidFill>
            <a:prstDash val="solid"/>
          </a:ln>
        </p:spPr>
      </p:sp>
      <p:sp>
        <p:nvSpPr>
          <p:cNvPr id="14" name="Text 12"/>
          <p:cNvSpPr txBox="1"/>
          <p:nvPr/>
        </p:nvSpPr>
        <p:spPr>
          <a:xfrm>
            <a:off x="6263640" y="1508760"/>
            <a:ext cx="914400" cy="365760"/>
          </a:xfrm>
          <a:prstGeom prst="rect">
            <a:avLst/>
          </a:prstGeom>
          <a:noFill/>
          <a:ln/>
        </p:spPr>
        <p:txBody>
          <a:bodyPr wrap="square" lIns="0" tIns="0" rIns="0" bIns="0" rtlCol="0" anchor="t"/>
          <a:lstStyle/>
          <a:p>
            <a:pPr indent="0" marL="0">
              <a:buNone/>
            </a:pPr>
            <a:r>
              <a:rPr lang="en-US" sz="1800" b="1" dirty="0">
                <a:solidFill>
                  <a:schemeClr val="accent1"/>
                </a:solidFill>
                <a:latin typeface="Calibri" pitchFamily="34" charset="0"/>
                <a:ea typeface="Calibri" pitchFamily="34" charset="-122"/>
                <a:cs typeface="Calibri" pitchFamily="34" charset="-120"/>
              </a:rPr>
              <a:t>03</a:t>
            </a:r>
            <a:endParaRPr lang="en-US" sz="1800" dirty="0"/>
          </a:p>
        </p:txBody>
      </p:sp>
      <p:sp>
        <p:nvSpPr>
          <p:cNvPr id="15" name="Text 13"/>
          <p:cNvSpPr txBox="1"/>
          <p:nvPr/>
        </p:nvSpPr>
        <p:spPr>
          <a:xfrm>
            <a:off x="6263640" y="1920240"/>
            <a:ext cx="2103120" cy="36576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Merge by rule</a:t>
            </a:r>
            <a:endParaRPr lang="en-US" sz="1800" dirty="0"/>
          </a:p>
        </p:txBody>
      </p:sp>
      <p:sp>
        <p:nvSpPr>
          <p:cNvPr id="16" name="Text 14"/>
          <p:cNvSpPr txBox="1"/>
          <p:nvPr/>
        </p:nvSpPr>
        <p:spPr>
          <a:xfrm>
            <a:off x="6263640" y="2331720"/>
            <a:ext cx="2103120" cy="1005840"/>
          </a:xfrm>
          <a:prstGeom prst="rect">
            <a:avLst/>
          </a:prstGeom>
          <a:noFill/>
          <a:ln/>
        </p:spPr>
        <p:txBody>
          <a:bodyPr wrap="square" lIns="0" tIns="0" rIns="0" bIns="0" rtlCol="0" anchor="t"/>
          <a:lstStyle/>
          <a:p>
            <a:pPr indent="0" marL="0">
              <a:buNone/>
            </a:pPr>
            <a:r>
              <a:rPr lang="en-US" sz="1250" dirty="0">
                <a:solidFill>
                  <a:schemeClr val="accent6"/>
                </a:solidFill>
                <a:latin typeface="Calibri" pitchFamily="34" charset="0"/>
                <a:ea typeface="Calibri" pitchFamily="34" charset="-122"/>
                <a:cs typeface="Calibri" pitchFamily="34" charset="-120"/>
              </a:rPr>
              <a:t>The same set of events always gives the same state, in any order, on any region.</a:t>
            </a:r>
            <a:endParaRPr lang="en-US" sz="1250" dirty="0"/>
          </a:p>
        </p:txBody>
      </p:sp>
      <p:sp>
        <p:nvSpPr>
          <p:cNvPr id="17" name="Text 15"/>
          <p:cNvSpPr txBox="1"/>
          <p:nvPr/>
        </p:nvSpPr>
        <p:spPr>
          <a:xfrm>
            <a:off x="6263640" y="3383280"/>
            <a:ext cx="2148840" cy="274320"/>
          </a:xfrm>
          <a:prstGeom prst="rect">
            <a:avLst/>
          </a:prstGeom>
          <a:noFill/>
          <a:ln/>
        </p:spPr>
        <p:txBody>
          <a:bodyPr wrap="square" lIns="0" tIns="0" rIns="0" bIns="0" rtlCol="0" anchor="t"/>
          <a:lstStyle/>
          <a:p>
            <a:pPr indent="0" marL="0">
              <a:buNone/>
            </a:pPr>
            <a:r>
              <a:rPr lang="en-US" sz="1100" b="1" dirty="0">
                <a:solidFill>
                  <a:schemeClr val="accent1"/>
                </a:solidFill>
                <a:latin typeface="Calibri" pitchFamily="34" charset="0"/>
                <a:ea typeface="Calibri" pitchFamily="34" charset="-122"/>
                <a:cs typeface="Calibri" pitchFamily="34" charset="-120"/>
              </a:rPr>
              <a:t>Hybrid clocks plus documented rules</a:t>
            </a:r>
            <a:endParaRPr lang="en-US" sz="1100" dirty="0"/>
          </a:p>
        </p:txBody>
      </p:sp>
      <p:sp>
        <p:nvSpPr>
          <p:cNvPr id="18" name="Text 16"/>
          <p:cNvSpPr txBox="1"/>
          <p:nvPr/>
        </p:nvSpPr>
        <p:spPr>
          <a:xfrm>
            <a:off x="548640" y="4114800"/>
            <a:ext cx="8046720"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Wall clocks never decide which edit is newer. Causality does.</a:t>
            </a: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t"/>
          <a:lstStyle/>
          <a:p>
            <a:pPr algn="l" indent="0" marL="0">
              <a:buNone/>
            </a:pPr>
            <a:r>
              <a:rPr lang="en-US" sz="2800" b="1" dirty="0">
                <a:solidFill>
                  <a:schemeClr val="tx1"/>
                </a:solidFill>
              </a:rPr>
              <a:t>Architecture</a:t>
            </a:r>
            <a:endParaRPr lang="en-US" sz="2800" dirty="0"/>
          </a:p>
        </p:txBody>
      </p:sp>
      <p:pic>
        <p:nvPicPr>
          <p:cNvPr id="3" name="Architecture diagram" descr="Three regional nodes on AWS and Azure, the node internals, MongoDB Atlas log and deployment pipeline">    </p:cNvPr>
          <p:cNvPicPr>
            <a:picLocks noChangeAspect="1"/>
          </p:cNvPicPr>
          <p:nvPr/>
        </p:nvPicPr>
        <p:blipFill>
          <a:blip r:embed="rId1"/>
          <a:stretch>
            <a:fillRect/>
          </a:stretch>
        </p:blipFill>
        <p:spPr>
          <a:xfrm>
            <a:off x="1708951" y="868680"/>
            <a:ext cx="5726097" cy="3931920"/>
          </a:xfrm>
          <a:prstGeom prst="rect">
            <a:avLst/>
          </a:prstGeom>
        </p:spPr>
      </p:pic>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t"/>
          <a:lstStyle/>
          <a:p>
            <a:pPr algn="l" indent="0" marL="0">
              <a:buNone/>
            </a:pPr>
            <a:r>
              <a:rPr lang="en-US" sz="2800" b="1" dirty="0">
                <a:solidFill>
                  <a:schemeClr val="tx1"/>
                </a:solidFill>
              </a:rPr>
              <a:t>Documented rules decide every conflict</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8046720" cy="914400"/>
        </p:xfrm>
        <a:graphic>
          <a:graphicData uri="http://schemas.openxmlformats.org/drawingml/2006/table">
            <a:tbl>
              <a:tblPr/>
              <a:tblGrid>
                <a:gridCol w="1554480"/>
                <a:gridCol w="3200400"/>
                <a:gridCol w="3291840"/>
              </a:tblGrid>
              <a:tr h="475488">
                <a:tc>
                  <a:txBody>
                    <a:bodyPr/>
                    <a:lstStyle/>
                    <a:p>
                      <a:pPr indent="0" marL="0">
                        <a:buNone/>
                      </a:pPr>
                      <a:r>
                        <a:rPr lang="en-US" sz="1300" b="1" dirty="0">
                          <a:solidFill>
                            <a:schemeClr val="bg1"/>
                          </a:solidFill>
                        </a:rPr>
                        <a:t>Field</a:t>
                      </a:r>
                      <a:endParaRPr lang="en-US" sz="1300" dirty="0"/>
                    </a:p>
                  </a:txBody>
                  <a:tcPr marL="91440" marR="91440" marT="45720" marB="4572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Rule</a:t>
                      </a:r>
                      <a:endParaRPr lang="en-US" sz="1300" dirty="0"/>
                    </a:p>
                  </a:txBody>
                  <a:tcPr marL="91440" marR="91440" marT="45720" marB="4572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Why</a:t>
                      </a:r>
                      <a:endParaRPr lang="en-US" sz="1300" dirty="0"/>
                    </a:p>
                  </a:txBody>
                  <a:tcPr marL="91440" marR="91440" marT="45720" marB="4572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chemeClr val="tx2"/>
                    </a:solidFill>
                  </a:tcPr>
                </a:tc>
              </a:tr>
              <a:tr h="475488">
                <a:tc>
                  <a:txBody>
                    <a:bodyPr/>
                    <a:lstStyle/>
                    <a:p>
                      <a:pPr indent="0" marL="0">
                        <a:buNone/>
                      </a:pPr>
                      <a:r>
                        <a:rPr lang="en-US" sz="1250" b="1" dirty="0">
                          <a:solidFill>
                            <a:schemeClr val="tx1"/>
                          </a:solidFill>
                        </a:rPr>
                        <a:t>Severity</a:t>
                      </a:r>
                      <a:endParaRPr lang="en-US" sz="1250" dirty="0"/>
                    </a:p>
                  </a:txBody>
                  <a:tcPr marL="91440" marR="91440" marT="45720" marB="4572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Highest wins</a:t>
                      </a:r>
                      <a:endParaRPr lang="en-US" sz="1250" dirty="0"/>
                    </a:p>
                  </a:txBody>
                  <a:tcPr marL="91440" marR="91440" marT="45720" marB="4572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 downgrade must be a human decision</a:t>
                      </a:r>
                      <a:endParaRPr lang="en-US" sz="1250" dirty="0"/>
                    </a:p>
                  </a:txBody>
                  <a:tcPr marL="91440" marR="91440" marT="45720" marB="4572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chemeClr val="bg1"/>
                    </a:solidFill>
                  </a:tcPr>
                </a:tc>
              </a:tr>
              <a:tr h="475488">
                <a:tc>
                  <a:txBody>
                    <a:bodyPr/>
                    <a:lstStyle/>
                    <a:p>
                      <a:pPr indent="0" marL="0">
                        <a:buNone/>
                      </a:pPr>
                      <a:r>
                        <a:rPr lang="en-US" sz="1250" b="1" dirty="0">
                          <a:solidFill>
                            <a:schemeClr val="tx1"/>
                          </a:solidFill>
                        </a:rPr>
                        <a:t>Status</a:t>
                      </a:r>
                      <a:endParaRPr lang="en-US" sz="1250" dirty="0"/>
                    </a:p>
                  </a:txBody>
                  <a:tcPr marL="91440" marR="91440" marT="45720" marB="4572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Most advanced wins</a:t>
                      </a:r>
                      <a:endParaRPr lang="en-US" sz="1250" dirty="0"/>
                    </a:p>
                  </a:txBody>
                  <a:tcPr marL="91440" marR="91440" marT="45720" marB="4572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A resolved record never reopens by accident</a:t>
                      </a:r>
                      <a:endParaRPr lang="en-US" sz="1250" dirty="0"/>
                    </a:p>
                  </a:txBody>
                  <a:tcPr marL="91440" marR="91440" marT="45720" marB="4572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chemeClr val="bg1"/>
                    </a:solidFill>
                  </a:tcPr>
                </a:tc>
              </a:tr>
              <a:tr h="475488">
                <a:tc>
                  <a:txBody>
                    <a:bodyPr/>
                    <a:lstStyle/>
                    <a:p>
                      <a:pPr indent="0" marL="0">
                        <a:buNone/>
                      </a:pPr>
                      <a:r>
                        <a:rPr lang="en-US" sz="1250" b="1" dirty="0">
                          <a:solidFill>
                            <a:schemeClr val="tx1"/>
                          </a:solidFill>
                        </a:rPr>
                        <a:t>Location</a:t>
                      </a:r>
                      <a:endParaRPr lang="en-US" sz="1250" dirty="0"/>
                    </a:p>
                  </a:txBody>
                  <a:tcPr marL="91440" marR="91440" marT="45720" marB="4572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Latest wins within 500 m, else operator</a:t>
                      </a:r>
                      <a:endParaRPr lang="en-US" sz="1250" dirty="0"/>
                    </a:p>
                  </a:txBody>
                  <a:tcPr marL="91440" marR="91440" marT="45720" marB="4572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Small corrections are safe, big jumps are not</a:t>
                      </a:r>
                      <a:endParaRPr lang="en-US" sz="1250" dirty="0"/>
                    </a:p>
                  </a:txBody>
                  <a:tcPr marL="91440" marR="91440" marT="45720" marB="4572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chemeClr val="bg1"/>
                    </a:solidFill>
                  </a:tcPr>
                </a:tc>
              </a:tr>
              <a:tr h="475488">
                <a:tc>
                  <a:txBody>
                    <a:bodyPr/>
                    <a:lstStyle/>
                    <a:p>
                      <a:pPr indent="0" marL="0">
                        <a:buNone/>
                      </a:pPr>
                      <a:r>
                        <a:rPr lang="en-US" sz="1250" b="1" dirty="0">
                          <a:solidFill>
                            <a:schemeClr val="tx1"/>
                          </a:solidFill>
                        </a:rPr>
                        <a:t>Description</a:t>
                      </a:r>
                      <a:endParaRPr lang="en-US" sz="1250" dirty="0"/>
                    </a:p>
                  </a:txBody>
                  <a:tcPr marL="91440" marR="91440" marT="45720" marB="4572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Both kept, operator chooses</a:t>
                      </a:r>
                      <a:endParaRPr lang="en-US" sz="1250" dirty="0"/>
                    </a:p>
                  </a:txBody>
                  <a:tcPr marL="91440" marR="91440" marT="45720" marB="4572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Free text cannot be merged safely</a:t>
                      </a:r>
                      <a:endParaRPr lang="en-US" sz="1250" dirty="0"/>
                    </a:p>
                  </a:txBody>
                  <a:tcPr marL="91440" marR="91440" marT="45720" marB="4572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chemeClr val="bg1"/>
                    </a:solidFill>
                  </a:tcPr>
                </a:tc>
              </a:tr>
              <a:tr h="475488">
                <a:tc>
                  <a:txBody>
                    <a:bodyPr/>
                    <a:lstStyle/>
                    <a:p>
                      <a:pPr indent="0" marL="0">
                        <a:buNone/>
                      </a:pPr>
                      <a:r>
                        <a:rPr lang="en-US" sz="1250" b="1" dirty="0">
                          <a:solidFill>
                            <a:schemeClr val="tx1"/>
                          </a:solidFill>
                        </a:rPr>
                        <a:t>Cart quantity</a:t>
                      </a:r>
                      <a:endParaRPr lang="en-US" sz="1250" dirty="0"/>
                    </a:p>
                  </a:txBody>
                  <a:tcPr marL="91440" marR="91440" marT="45720" marB="4572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Both kept, higher quantity on Auto resolve</a:t>
                      </a:r>
                      <a:endParaRPr lang="en-US" sz="1250" dirty="0"/>
                    </a:p>
                  </a:txBody>
                  <a:tcPr marL="91440" marR="91440" marT="45720" marB="4572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Never lose what a customer asked for</a:t>
                      </a:r>
                      <a:endParaRPr lang="en-US" sz="1250" dirty="0"/>
                    </a:p>
                  </a:txBody>
                  <a:tcPr marL="91440" marR="91440" marT="45720" marB="4572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chemeClr val="bg1"/>
                    </a:solidFill>
                  </a:tcPr>
                </a:tc>
              </a:tr>
            </a:tbl>
          </a:graphicData>
        </a:graphic>
      </p:graphicFrame>
      <p:sp>
        <p:nvSpPr>
          <p:cNvPr id="4" name="Text 1"/>
          <p:cNvSpPr txBox="1"/>
          <p:nvPr/>
        </p:nvSpPr>
        <p:spPr>
          <a:xfrm>
            <a:off x="548640" y="4297680"/>
            <a:ext cx="8046720" cy="365760"/>
          </a:xfrm>
          <a:prstGeom prst="rect">
            <a:avLst/>
          </a:prstGeom>
          <a:noFill/>
          <a:ln/>
        </p:spPr>
        <p:txBody>
          <a:bodyPr wrap="square" lIns="0" tIns="0" rIns="0" bIns="0" rtlCol="0" anchor="t"/>
          <a:lstStyle/>
          <a:p>
            <a:pPr indent="0" marL="0">
              <a:buNone/>
            </a:pPr>
            <a:r>
              <a:rPr lang="en-US" sz="1400" dirty="0">
                <a:solidFill>
                  <a:schemeClr val="accent6"/>
                </a:solidFill>
                <a:latin typeface="Calibri" pitchFamily="34" charset="0"/>
                <a:ea typeface="Calibri" pitchFamily="34" charset="-122"/>
                <a:cs typeface="Calibri" pitchFamily="34" charset="-120"/>
              </a:rPr>
              <a:t>Every conflict stays in the ledger after it is resolved, with who decided and why.</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t"/>
          <a:lstStyle/>
          <a:p>
            <a:pPr algn="l" indent="0" marL="0">
              <a:buNone/>
            </a:pPr>
            <a:r>
              <a:rPr lang="en-US" sz="2800" b="1" dirty="0">
                <a:solidFill>
                  <a:schemeClr val="tx1"/>
                </a:solidFill>
              </a:rPr>
              <a:t>Both versions are kept and the decision is explained</a:t>
            </a:r>
            <a:endParaRPr lang="en-US" sz="2800" dirty="0"/>
          </a:p>
        </p:txBody>
      </p:sp>
      <p:sp>
        <p:nvSpPr>
          <p:cNvPr id="3" name="Conflict ledger screenshot frame"/>
          <p:cNvSpPr/>
          <p:nvPr/>
        </p:nvSpPr>
        <p:spPr>
          <a:xfrm>
            <a:off x="512064" y="1152144"/>
            <a:ext cx="8119872" cy="1997113"/>
          </a:xfrm>
          <a:prstGeom prst="roundRect">
            <a:avLst>
              <a:gd name="adj" fmla="val 2747"/>
            </a:avLst>
          </a:prstGeom>
          <a:solidFill>
            <a:schemeClr val="bg1"/>
          </a:solidFill>
          <a:ln w="9525">
            <a:solidFill>
              <a:schemeClr val="accent6">
                <a:alpha val="45000"/>
              </a:schemeClr>
            </a:solidFill>
            <a:prstDash val="solid"/>
          </a:ln>
        </p:spPr>
      </p:sp>
      <p:pic>
        <p:nvPicPr>
          <p:cNvPr id="4" name="Conflict ledger screenshot" descr="Conflict ledger screenshot">    </p:cNvPr>
          <p:cNvPicPr>
            <a:picLocks noChangeAspect="1"/>
          </p:cNvPicPr>
          <p:nvPr/>
        </p:nvPicPr>
        <p:blipFill>
          <a:blip r:embed="rId1"/>
          <a:stretch>
            <a:fillRect/>
          </a:stretch>
        </p:blipFill>
        <p:spPr>
          <a:xfrm>
            <a:off x="548640" y="1188720"/>
            <a:ext cx="8046720" cy="1923961"/>
          </a:xfrm>
          <a:prstGeom prst="rect">
            <a:avLst/>
          </a:prstGeom>
        </p:spPr>
      </p:pic>
      <p:sp>
        <p:nvSpPr>
          <p:cNvPr id="5" name="Text 2"/>
          <p:cNvSpPr txBox="1"/>
          <p:nvPr/>
        </p:nvSpPr>
        <p:spPr>
          <a:xfrm>
            <a:off x="548640" y="3383280"/>
            <a:ext cx="8046720" cy="73152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Mumbai set First Aid Kit × 3 and Hyderabad set First Aid Kit × 4 at the same time. No rule can pick safely, so a person decides, or Auto resolve keeps the higher quantity.</a:t>
            </a:r>
            <a:endParaRPr lang="en-US" sz="1500" dirty="0"/>
          </a:p>
        </p:txBody>
      </p:sp>
      <p:sp>
        <p:nvSpPr>
          <p:cNvPr id="6" name="Text 3"/>
          <p:cNvSpPr txBox="1"/>
          <p:nvPr/>
        </p:nvSpPr>
        <p:spPr>
          <a:xfrm>
            <a:off x="548640" y="4206240"/>
            <a:ext cx="8046720" cy="365760"/>
          </a:xfrm>
          <a:prstGeom prst="rect">
            <a:avLst/>
          </a:prstGeom>
          <a:noFill/>
          <a:ln/>
        </p:spPr>
        <p:txBody>
          <a:bodyPr wrap="square" lIns="0" tIns="0" rIns="0" bIns="0" rtlCol="0" anchor="t"/>
          <a:lstStyle/>
          <a:p>
            <a:pPr indent="0" marL="0">
              <a:buNone/>
            </a:pPr>
            <a:r>
              <a:rPr lang="en-US" sz="1800" b="1" dirty="0">
                <a:solidFill>
                  <a:schemeClr val="accent1"/>
                </a:solidFill>
                <a:latin typeface="Calibri" pitchFamily="34" charset="0"/>
                <a:ea typeface="Calibri" pitchFamily="34" charset="-122"/>
                <a:cs typeface="Calibri" pitchFamily="34" charset="-120"/>
              </a:rPr>
              <a:t>Nothing is dropped silently.</a:t>
            </a:r>
            <a:endParaRPr lang="en-US" sz="18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t"/>
          <a:lstStyle/>
          <a:p>
            <a:pPr algn="l" indent="0" marL="0">
              <a:buNone/>
            </a:pPr>
            <a:r>
              <a:rPr lang="en-US" sz="2800" b="1" dirty="0">
                <a:solidFill>
                  <a:schemeClr val="tx1"/>
                </a:solidFill>
              </a:rPr>
              <a:t>It says it is degraded, and what still works</a:t>
            </a:r>
            <a:endParaRPr lang="en-US" sz="2800" dirty="0"/>
          </a:p>
        </p:txBody>
      </p:sp>
      <p:sp>
        <p:nvSpPr>
          <p:cNvPr id="3" name="Isolated banner screenshot frame"/>
          <p:cNvSpPr/>
          <p:nvPr/>
        </p:nvSpPr>
        <p:spPr>
          <a:xfrm>
            <a:off x="512064" y="1106424"/>
            <a:ext cx="8119872" cy="1299319"/>
          </a:xfrm>
          <a:prstGeom prst="roundRect">
            <a:avLst>
              <a:gd name="adj" fmla="val 4223"/>
            </a:avLst>
          </a:prstGeom>
          <a:solidFill>
            <a:schemeClr val="bg1"/>
          </a:solidFill>
          <a:ln w="9525">
            <a:solidFill>
              <a:schemeClr val="accent6">
                <a:alpha val="45000"/>
              </a:schemeClr>
            </a:solidFill>
            <a:prstDash val="solid"/>
          </a:ln>
        </p:spPr>
      </p:sp>
      <p:pic>
        <p:nvPicPr>
          <p:cNvPr id="4" name="Isolated banner screenshot" descr="Isolated banner screenshot">    </p:cNvPr>
          <p:cNvPicPr>
            <a:picLocks noChangeAspect="1"/>
          </p:cNvPicPr>
          <p:nvPr/>
        </p:nvPicPr>
        <p:blipFill>
          <a:blip r:embed="rId1"/>
          <a:stretch>
            <a:fillRect/>
          </a:stretch>
        </p:blipFill>
        <p:spPr>
          <a:xfrm>
            <a:off x="548640" y="1143000"/>
            <a:ext cx="8046720" cy="1226167"/>
          </a:xfrm>
          <a:prstGeom prst="rect">
            <a:avLst/>
          </a:prstGeom>
        </p:spPr>
      </p:pic>
      <p:sp>
        <p:nvSpPr>
          <p:cNvPr id="5" name="Mode card Normal"/>
          <p:cNvSpPr/>
          <p:nvPr/>
        </p:nvSpPr>
        <p:spPr>
          <a:xfrm>
            <a:off x="548640" y="2697480"/>
            <a:ext cx="2560320" cy="1600200"/>
          </a:xfrm>
          <a:prstGeom prst="roundRect">
            <a:avLst>
              <a:gd name="adj" fmla="val 4571"/>
            </a:avLst>
          </a:prstGeom>
          <a:solidFill>
            <a:schemeClr val="bg2"/>
          </a:solidFill>
          <a:ln w="12700">
            <a:solidFill>
              <a:schemeClr val="bg2"/>
            </a:solidFill>
            <a:prstDash val="solid"/>
          </a:ln>
        </p:spPr>
      </p:sp>
      <p:sp>
        <p:nvSpPr>
          <p:cNvPr id="6" name="Normal marker"/>
          <p:cNvSpPr/>
          <p:nvPr/>
        </p:nvSpPr>
        <p:spPr>
          <a:xfrm>
            <a:off x="777240" y="2898648"/>
            <a:ext cx="182880" cy="182880"/>
          </a:xfrm>
          <a:prstGeom prst="ellipse">
            <a:avLst/>
          </a:prstGeom>
          <a:solidFill>
            <a:schemeClr val="accent2"/>
          </a:solidFill>
          <a:ln w="12700">
            <a:solidFill>
              <a:schemeClr val="accent2"/>
            </a:solidFill>
            <a:prstDash val="solid"/>
          </a:ln>
        </p:spPr>
      </p:sp>
      <p:sp>
        <p:nvSpPr>
          <p:cNvPr id="7" name="Text 4"/>
          <p:cNvSpPr txBox="1"/>
          <p:nvPr/>
        </p:nvSpPr>
        <p:spPr>
          <a:xfrm>
            <a:off x="1097280" y="2834640"/>
            <a:ext cx="1828800" cy="292608"/>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Normal</a:t>
            </a:r>
            <a:endParaRPr lang="en-US" sz="1600" dirty="0"/>
          </a:p>
        </p:txBody>
      </p:sp>
      <p:sp>
        <p:nvSpPr>
          <p:cNvPr id="8" name="Text 5"/>
          <p:cNvSpPr txBox="1"/>
          <p:nvPr/>
        </p:nvSpPr>
        <p:spPr>
          <a:xfrm>
            <a:off x="777240" y="3246120"/>
            <a:ext cx="2148840" cy="914400"/>
          </a:xfrm>
          <a:prstGeom prst="rect">
            <a:avLst/>
          </a:prstGeom>
          <a:noFill/>
          <a:ln/>
        </p:spPr>
        <p:txBody>
          <a:bodyPr wrap="square" lIns="0" tIns="0" rIns="0" bIns="0" rtlCol="0" anchor="t"/>
          <a:lstStyle/>
          <a:p>
            <a:pPr indent="0" marL="0">
              <a:buNone/>
            </a:pPr>
            <a:r>
              <a:rPr lang="en-US" sz="1200" dirty="0">
                <a:solidFill>
                  <a:schemeClr val="accent6"/>
                </a:solidFill>
                <a:latin typeface="Calibri" pitchFamily="34" charset="0"/>
                <a:ea typeface="Calibri" pitchFamily="34" charset="-122"/>
                <a:cs typeface="Calibri" pitchFamily="34" charset="-120"/>
              </a:rPr>
              <a:t>Every region reaches every peer. Writes replicate within a second.</a:t>
            </a:r>
            <a:endParaRPr lang="en-US" sz="1200" dirty="0"/>
          </a:p>
        </p:txBody>
      </p:sp>
      <p:sp>
        <p:nvSpPr>
          <p:cNvPr id="9" name="Mode card Degraded"/>
          <p:cNvSpPr/>
          <p:nvPr/>
        </p:nvSpPr>
        <p:spPr>
          <a:xfrm>
            <a:off x="3291840" y="2697480"/>
            <a:ext cx="2560320" cy="1600200"/>
          </a:xfrm>
          <a:prstGeom prst="roundRect">
            <a:avLst>
              <a:gd name="adj" fmla="val 4571"/>
            </a:avLst>
          </a:prstGeom>
          <a:solidFill>
            <a:schemeClr val="bg2"/>
          </a:solidFill>
          <a:ln w="12700">
            <a:solidFill>
              <a:schemeClr val="bg2"/>
            </a:solidFill>
            <a:prstDash val="solid"/>
          </a:ln>
        </p:spPr>
      </p:sp>
      <p:sp>
        <p:nvSpPr>
          <p:cNvPr id="10" name="Degraded marker"/>
          <p:cNvSpPr/>
          <p:nvPr/>
        </p:nvSpPr>
        <p:spPr>
          <a:xfrm>
            <a:off x="3520440" y="2898648"/>
            <a:ext cx="182880" cy="182880"/>
          </a:xfrm>
          <a:prstGeom prst="ellipse">
            <a:avLst/>
          </a:prstGeom>
          <a:solidFill>
            <a:schemeClr val="accent4"/>
          </a:solidFill>
          <a:ln w="12700">
            <a:solidFill>
              <a:schemeClr val="accent4"/>
            </a:solidFill>
            <a:prstDash val="solid"/>
          </a:ln>
        </p:spPr>
      </p:sp>
      <p:sp>
        <p:nvSpPr>
          <p:cNvPr id="11" name="Text 8"/>
          <p:cNvSpPr txBox="1"/>
          <p:nvPr/>
        </p:nvSpPr>
        <p:spPr>
          <a:xfrm>
            <a:off x="3840480" y="2834640"/>
            <a:ext cx="1828800" cy="292608"/>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Degraded</a:t>
            </a:r>
            <a:endParaRPr lang="en-US" sz="1600" dirty="0"/>
          </a:p>
        </p:txBody>
      </p:sp>
      <p:sp>
        <p:nvSpPr>
          <p:cNvPr id="12" name="Text 9"/>
          <p:cNvSpPr txBox="1"/>
          <p:nvPr/>
        </p:nvSpPr>
        <p:spPr>
          <a:xfrm>
            <a:off x="3520440" y="3246120"/>
            <a:ext cx="2148840" cy="914400"/>
          </a:xfrm>
          <a:prstGeom prst="rect">
            <a:avLst/>
          </a:prstGeom>
          <a:noFill/>
          <a:ln/>
        </p:spPr>
        <p:txBody>
          <a:bodyPr wrap="square" lIns="0" tIns="0" rIns="0" bIns="0" rtlCol="0" anchor="t"/>
          <a:lstStyle/>
          <a:p>
            <a:pPr indent="0" marL="0">
              <a:buNone/>
            </a:pPr>
            <a:r>
              <a:rPr lang="en-US" sz="1200" dirty="0">
                <a:solidFill>
                  <a:schemeClr val="accent6"/>
                </a:solidFill>
                <a:latin typeface="Calibri" pitchFamily="34" charset="0"/>
                <a:ea typeface="Calibri" pitchFamily="34" charset="-122"/>
                <a:cs typeface="Calibri" pitchFamily="34" charset="-120"/>
              </a:rPr>
              <a:t>Some links are down. Everything still works and each region shows how stale its view is.</a:t>
            </a:r>
            <a:endParaRPr lang="en-US" sz="1200" dirty="0"/>
          </a:p>
        </p:txBody>
      </p:sp>
      <p:sp>
        <p:nvSpPr>
          <p:cNvPr id="13" name="Mode card Isolated"/>
          <p:cNvSpPr/>
          <p:nvPr/>
        </p:nvSpPr>
        <p:spPr>
          <a:xfrm>
            <a:off x="6035040" y="2697480"/>
            <a:ext cx="2560320" cy="1600200"/>
          </a:xfrm>
          <a:prstGeom prst="roundRect">
            <a:avLst>
              <a:gd name="adj" fmla="val 4571"/>
            </a:avLst>
          </a:prstGeom>
          <a:solidFill>
            <a:schemeClr val="bg2"/>
          </a:solidFill>
          <a:ln w="12700">
            <a:solidFill>
              <a:schemeClr val="bg2"/>
            </a:solidFill>
            <a:prstDash val="solid"/>
          </a:ln>
        </p:spPr>
      </p:sp>
      <p:sp>
        <p:nvSpPr>
          <p:cNvPr id="14" name="Isolated marker"/>
          <p:cNvSpPr/>
          <p:nvPr/>
        </p:nvSpPr>
        <p:spPr>
          <a:xfrm>
            <a:off x="6263640" y="2898648"/>
            <a:ext cx="182880" cy="182880"/>
          </a:xfrm>
          <a:prstGeom prst="ellipse">
            <a:avLst/>
          </a:prstGeom>
          <a:solidFill>
            <a:schemeClr val="accent3"/>
          </a:solidFill>
          <a:ln w="12700">
            <a:solidFill>
              <a:schemeClr val="accent3"/>
            </a:solidFill>
            <a:prstDash val="solid"/>
          </a:ln>
        </p:spPr>
      </p:sp>
      <p:sp>
        <p:nvSpPr>
          <p:cNvPr id="15" name="Text 12"/>
          <p:cNvSpPr txBox="1"/>
          <p:nvPr/>
        </p:nvSpPr>
        <p:spPr>
          <a:xfrm>
            <a:off x="6583680" y="2834640"/>
            <a:ext cx="1828800" cy="292608"/>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Isolated</a:t>
            </a:r>
            <a:endParaRPr lang="en-US" sz="1600" dirty="0"/>
          </a:p>
        </p:txBody>
      </p:sp>
      <p:sp>
        <p:nvSpPr>
          <p:cNvPr id="16" name="Text 13"/>
          <p:cNvSpPr txBox="1"/>
          <p:nvPr/>
        </p:nvSpPr>
        <p:spPr>
          <a:xfrm>
            <a:off x="6263640" y="3246120"/>
            <a:ext cx="2148840" cy="914400"/>
          </a:xfrm>
          <a:prstGeom prst="rect">
            <a:avLst/>
          </a:prstGeom>
          <a:noFill/>
          <a:ln/>
        </p:spPr>
        <p:txBody>
          <a:bodyPr wrap="square" lIns="0" tIns="0" rIns="0" bIns="0" rtlCol="0" anchor="t"/>
          <a:lstStyle/>
          <a:p>
            <a:pPr indent="0" marL="0">
              <a:buNone/>
            </a:pPr>
            <a:r>
              <a:rPr lang="en-US" sz="1200" dirty="0">
                <a:solidFill>
                  <a:schemeClr val="accent6"/>
                </a:solidFill>
                <a:latin typeface="Calibri" pitchFamily="34" charset="0"/>
                <a:ea typeface="Calibri" pitchFamily="34" charset="-122"/>
                <a:cs typeface="Calibri" pitchFamily="34" charset="-120"/>
              </a:rPr>
              <a:t>A region reaches nobody. It keeps working alone and merges when a link returns.</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t"/>
          <a:lstStyle/>
          <a:p>
            <a:pPr algn="l" indent="0" marL="0">
              <a:buNone/>
            </a:pPr>
            <a:r>
              <a:rPr lang="en-US" sz="2800" b="1" dirty="0">
                <a:solidFill>
                  <a:schemeClr val="tx1"/>
                </a:solidFill>
              </a:rPr>
              <a:t>A cut-off region cannot oversell</a:t>
            </a:r>
            <a:endParaRPr lang="en-US" sz="2800" dirty="0"/>
          </a:p>
        </p:txBody>
      </p:sp>
      <p:sp>
        <p:nvSpPr>
          <p:cNvPr id="3" name="Store with reserved shares screenshot frame"/>
          <p:cNvSpPr/>
          <p:nvPr/>
        </p:nvSpPr>
        <p:spPr>
          <a:xfrm>
            <a:off x="512064" y="1152144"/>
            <a:ext cx="4603696" cy="3502152"/>
          </a:xfrm>
          <a:prstGeom prst="roundRect">
            <a:avLst>
              <a:gd name="adj" fmla="val 1567"/>
            </a:avLst>
          </a:prstGeom>
          <a:solidFill>
            <a:schemeClr val="bg1"/>
          </a:solidFill>
          <a:ln w="9525">
            <a:solidFill>
              <a:schemeClr val="accent6">
                <a:alpha val="45000"/>
              </a:schemeClr>
            </a:solidFill>
            <a:prstDash val="solid"/>
          </a:ln>
        </p:spPr>
      </p:sp>
      <p:pic>
        <p:nvPicPr>
          <p:cNvPr id="4" name="Store with reserved shares screenshot" descr="Store with reserved shares screenshot">    </p:cNvPr>
          <p:cNvPicPr>
            <a:picLocks noChangeAspect="1"/>
          </p:cNvPicPr>
          <p:nvPr/>
        </p:nvPicPr>
        <p:blipFill>
          <a:blip r:embed="rId1"/>
          <a:stretch>
            <a:fillRect/>
          </a:stretch>
        </p:blipFill>
        <p:spPr>
          <a:xfrm>
            <a:off x="548640" y="1188720"/>
            <a:ext cx="4530544" cy="3429000"/>
          </a:xfrm>
          <a:prstGeom prst="rect">
            <a:avLst/>
          </a:prstGeom>
        </p:spPr>
      </p:pic>
      <p:sp>
        <p:nvSpPr>
          <p:cNvPr id="5" name="Text 2"/>
          <p:cNvSpPr txBox="1"/>
          <p:nvPr/>
        </p:nvSpPr>
        <p:spPr>
          <a:xfrm>
            <a:off x="5490664" y="1188720"/>
            <a:ext cx="3104696" cy="36576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Prevent, do not repair</a:t>
            </a:r>
            <a:endParaRPr lang="en-US" sz="1800" dirty="0"/>
          </a:p>
        </p:txBody>
      </p:sp>
      <p:sp>
        <p:nvSpPr>
          <p:cNvPr id="6" name="Text 3"/>
          <p:cNvSpPr txBox="1"/>
          <p:nvPr/>
        </p:nvSpPr>
        <p:spPr>
          <a:xfrm>
            <a:off x="5490664" y="1645920"/>
            <a:ext cx="3104696" cy="201168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chemeClr val="tx1"/>
                </a:solidFill>
                <a:latin typeface="Calibri" pitchFamily="34" charset="0"/>
                <a:ea typeface="Calibri" pitchFamily="34" charset="-122"/>
                <a:cs typeface="Calibri" pitchFamily="34" charset="-120"/>
              </a:rPr>
              <a:t>When a region loses a link it may only sell its reserved share: a third of what was left when the link dropped.</a:t>
            </a:r>
            <a:endParaRPr lang="en-US" sz="1350" dirty="0"/>
          </a:p>
          <a:p>
            <a:pPr marL="342900" indent="-342900">
              <a:spcAft>
                <a:spcPts val="800"/>
              </a:spcAft>
              <a:buSzPct val="100000"/>
              <a:buChar char="•"/>
            </a:pPr>
            <a:r>
              <a:rPr lang="en-US" sz="1350" dirty="0">
                <a:solidFill>
                  <a:schemeClr val="tx1"/>
                </a:solidFill>
                <a:latin typeface="Calibri" pitchFamily="34" charset="0"/>
                <a:ea typeface="Calibri" pitchFamily="34" charset="-122"/>
                <a:cs typeface="Calibri" pitchFamily="34" charset="-120"/>
              </a:rPr>
              <a:t>The shares add up to at most the stock, so regions cannot oversell between them.</a:t>
            </a:r>
            <a:endParaRPr lang="en-US" sz="1350" dirty="0"/>
          </a:p>
          <a:p>
            <a:pPr marL="342900" indent="-342900">
              <a:spcAft>
                <a:spcPts val="800"/>
              </a:spcAft>
              <a:buSzPct val="100000"/>
              <a:buChar char="•"/>
            </a:pPr>
            <a:r>
              <a:rPr lang="en-US" sz="1350" dirty="0">
                <a:solidFill>
                  <a:schemeClr val="tx1"/>
                </a:solidFill>
                <a:latin typeface="Calibri" pitchFamily="34" charset="0"/>
                <a:ea typeface="Calibri" pitchFamily="34" charset="-122"/>
                <a:cs typeface="Calibri" pitchFamily="34" charset="-120"/>
              </a:rPr>
              <a:t>After reconnect there is nothing to fix.</a:t>
            </a:r>
            <a:endParaRPr lang="en-US" sz="1350" dirty="0"/>
          </a:p>
        </p:txBody>
      </p:sp>
      <p:sp>
        <p:nvSpPr>
          <p:cNvPr id="7" name="Text 4"/>
          <p:cNvSpPr txBox="1"/>
          <p:nvPr/>
        </p:nvSpPr>
        <p:spPr>
          <a:xfrm>
            <a:off x="5490664" y="3749040"/>
            <a:ext cx="3104696" cy="640080"/>
          </a:xfrm>
          <a:prstGeom prst="rect">
            <a:avLst/>
          </a:prstGeom>
          <a:noFill/>
          <a:ln/>
        </p:spPr>
        <p:txBody>
          <a:bodyPr wrap="square" lIns="0" tIns="0" rIns="0" bIns="0" rtlCol="0" anchor="t"/>
          <a:lstStyle/>
          <a:p>
            <a:pPr indent="0" marL="0">
              <a:buNone/>
            </a:pPr>
            <a:r>
              <a:rPr lang="en-US" sz="1200" dirty="0">
                <a:solidFill>
                  <a:schemeClr val="accent6"/>
                </a:solidFill>
                <a:latin typeface="Calibri" pitchFamily="34" charset="0"/>
                <a:ea typeface="Calibri" pitchFamily="34" charset="-122"/>
                <a:cs typeface="Calibri" pitchFamily="34" charset="-120"/>
              </a:rPr>
              <a:t>Trade-off: a region may refuse a sale it could have made, until the links return.</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t"/>
          <a:lstStyle/>
          <a:p>
            <a:pPr algn="l" indent="0" marL="0">
              <a:buNone/>
            </a:pPr>
            <a:r>
              <a:rPr lang="en-US" sz="2800" b="1" dirty="0">
                <a:solidFill>
                  <a:schemeClr val="tx1"/>
                </a:solidFill>
              </a:rPr>
              <a:t>Every outage leaves a report</a:t>
            </a:r>
            <a:endParaRPr lang="en-US" sz="2800" dirty="0"/>
          </a:p>
        </p:txBody>
      </p:sp>
      <p:sp>
        <p:nvSpPr>
          <p:cNvPr id="3" name="Region logs screenshot frame"/>
          <p:cNvSpPr/>
          <p:nvPr/>
        </p:nvSpPr>
        <p:spPr>
          <a:xfrm>
            <a:off x="512064" y="1106424"/>
            <a:ext cx="7022592" cy="3203840"/>
          </a:xfrm>
          <a:prstGeom prst="roundRect">
            <a:avLst>
              <a:gd name="adj" fmla="val 1712"/>
            </a:avLst>
          </a:prstGeom>
          <a:solidFill>
            <a:schemeClr val="bg1"/>
          </a:solidFill>
          <a:ln w="9525">
            <a:solidFill>
              <a:schemeClr val="accent6">
                <a:alpha val="45000"/>
              </a:schemeClr>
            </a:solidFill>
            <a:prstDash val="solid"/>
          </a:ln>
        </p:spPr>
      </p:sp>
      <p:pic>
        <p:nvPicPr>
          <p:cNvPr id="4" name="Region logs screenshot" descr="Region logs screenshot">    </p:cNvPr>
          <p:cNvPicPr>
            <a:picLocks noChangeAspect="1"/>
          </p:cNvPicPr>
          <p:nvPr/>
        </p:nvPicPr>
        <p:blipFill>
          <a:blip r:embed="rId1"/>
          <a:stretch>
            <a:fillRect/>
          </a:stretch>
        </p:blipFill>
        <p:spPr>
          <a:xfrm>
            <a:off x="548640" y="1143000"/>
            <a:ext cx="6949440" cy="3130688"/>
          </a:xfrm>
          <a:prstGeom prst="rect">
            <a:avLst/>
          </a:prstGeom>
        </p:spPr>
      </p:pic>
      <p:sp>
        <p:nvSpPr>
          <p:cNvPr id="5" name="Text 2"/>
          <p:cNvSpPr txBox="1"/>
          <p:nvPr/>
        </p:nvSpPr>
        <p:spPr>
          <a:xfrm>
            <a:off x="548640" y="4434840"/>
            <a:ext cx="8046720" cy="365760"/>
          </a:xfrm>
          <a:prstGeom prst="rect">
            <a:avLst/>
          </a:prstGeom>
          <a:noFill/>
          <a:ln/>
        </p:spPr>
        <p:txBody>
          <a:bodyPr wrap="square" lIns="0" tIns="0" rIns="0" bIns="0" rtlCol="0" anchor="t"/>
          <a:lstStyle/>
          <a:p>
            <a:pPr indent="0" marL="0">
              <a:buNone/>
            </a:pPr>
            <a:r>
              <a:rPr lang="en-US" sz="1250" dirty="0">
                <a:solidFill>
                  <a:schemeClr val="accent6"/>
                </a:solidFill>
                <a:latin typeface="Calibri" pitchFamily="34" charset="0"/>
                <a:ea typeface="Calibri" pitchFamily="34" charset="-122"/>
                <a:cs typeface="Calibri" pitchFamily="34" charset="-120"/>
              </a:rPr>
              <a:t>Each region's log is saved to MongoDB Atlas, so a crashed region's history stays readable from any other region.</a:t>
            </a:r>
            <a:endParaRPr lang="en-US" sz="125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t"/>
          <a:lstStyle/>
          <a:p>
            <a:pPr algn="l" indent="0" marL="0">
              <a:buNone/>
            </a:pPr>
            <a:r>
              <a:rPr lang="en-US" sz="2800" b="1" dirty="0">
                <a:solidFill>
                  <a:schemeClr val="tx1"/>
                </a:solidFill>
              </a:rPr>
              <a:t>Measured over 100 randomised failures per system</a:t>
            </a:r>
            <a:endParaRPr lang="en-US" sz="2800" dirty="0"/>
          </a:p>
        </p:txBody>
      </p:sp>
      <p:graphicFrame>
        <p:nvGraphicFramePr>
          <p:cNvPr id="3" name="Chart 0" descr=""/>
          <p:cNvGraphicFramePr/>
          <p:nvPr/>
        </p:nvGraphicFramePr>
        <p:xfrm>
          <a:off x="457200" y="1188720"/>
          <a:ext cx="4023360" cy="3291840"/>
        </p:xfrm>
        <a:graphic xmlns:a="http://schemas.openxmlformats.org/drawingml/2006/main">
          <a:graphicData uri="http://schemas.openxmlformats.org/drawingml/2006/chart">
            <c:chart xmlns:c="http://schemas.openxmlformats.org/drawingml/2006/chart" r:id="rId1"/>
          </a:graphicData>
        </a:graphic>
      </p:graphicFrame>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754880" y="1371600"/>
          <a:ext cx="3931920" cy="914400"/>
        </p:xfrm>
        <a:graphic>
          <a:graphicData uri="http://schemas.openxmlformats.org/drawingml/2006/table">
            <a:tbl>
              <a:tblPr/>
              <a:tblGrid>
                <a:gridCol w="1920240"/>
                <a:gridCol w="1005840"/>
                <a:gridCol w="1005840"/>
              </a:tblGrid>
              <a:tr h="457200">
                <a:tc>
                  <a:txBody>
                    <a:bodyPr/>
                    <a:lstStyle/>
                    <a:p>
                      <a:pPr indent="0" marL="0">
                        <a:buNone/>
                      </a:pPr>
                      <a:r>
                        <a:rPr lang="en-US" sz="1200" b="1" dirty="0">
                          <a:solidFill>
                            <a:schemeClr val="bg1"/>
                          </a:solidFill>
                        </a:rPr>
                        <a:t>Failure scenario</a:t>
                      </a:r>
                      <a:endParaRPr lang="en-US" sz="1200" dirty="0"/>
                    </a:p>
                  </a:txBody>
                  <a:tcPr marL="91440" marR="91440" marT="45720" marB="4572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DisasterSync</a:t>
                      </a:r>
                      <a:endParaRPr lang="en-US" sz="1200" dirty="0"/>
                    </a:p>
                  </a:txBody>
                  <a:tcPr marL="91440" marR="91440" marT="45720" marB="4572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Baseline</a:t>
                      </a:r>
                      <a:endParaRPr lang="en-US" sz="1200" dirty="0"/>
                    </a:p>
                  </a:txBody>
                  <a:tcPr marL="91440" marR="91440" marT="45720" marB="4572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chemeClr val="tx2"/>
                    </a:solidFill>
                  </a:tcPr>
                </a:tc>
              </a:tr>
              <a:tr h="457200">
                <a:tc>
                  <a:txBody>
                    <a:bodyPr/>
                    <a:lstStyle/>
                    <a:p>
                      <a:pPr indent="0" marL="0">
                        <a:buNone/>
                      </a:pPr>
                      <a:r>
                        <a:rPr lang="en-US" sz="1200" dirty="0">
                          <a:solidFill>
                            <a:schemeClr val="tx1"/>
                          </a:solidFill>
                        </a:rPr>
                        <a:t>Partition edit</a:t>
                      </a:r>
                      <a:endParaRPr lang="en-US" sz="1200" dirty="0"/>
                    </a:p>
                  </a:txBody>
                  <a:tcPr marL="91440" marR="91440" marT="45720" marB="4572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accent2"/>
                          </a:solidFill>
                        </a:rPr>
                        <a:t>20 of 20</a:t>
                      </a:r>
                      <a:endParaRPr lang="en-US" sz="1200" dirty="0"/>
                    </a:p>
                  </a:txBody>
                  <a:tcPr marL="91440" marR="91440" marT="45720" marB="4572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accent3"/>
                          </a:solidFill>
                        </a:rPr>
                        <a:t>0 of 20</a:t>
                      </a:r>
                      <a:endParaRPr lang="en-US" sz="1200" dirty="0"/>
                    </a:p>
                  </a:txBody>
                  <a:tcPr marL="91440" marR="91440" marT="45720" marB="4572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chemeClr val="bg1"/>
                    </a:solidFill>
                  </a:tcPr>
                </a:tc>
              </a:tr>
              <a:tr h="457200">
                <a:tc>
                  <a:txBody>
                    <a:bodyPr/>
                    <a:lstStyle/>
                    <a:p>
                      <a:pPr indent="0" marL="0">
                        <a:buNone/>
                      </a:pPr>
                      <a:r>
                        <a:rPr lang="en-US" sz="1200" dirty="0">
                          <a:solidFill>
                            <a:schemeClr val="tx1"/>
                          </a:solidFill>
                        </a:rPr>
                        <a:t>Pairwise partition</a:t>
                      </a:r>
                      <a:endParaRPr lang="en-US" sz="1200" dirty="0"/>
                    </a:p>
                  </a:txBody>
                  <a:tcPr marL="91440" marR="91440" marT="45720" marB="4572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accent2"/>
                          </a:solidFill>
                        </a:rPr>
                        <a:t>20 of 20</a:t>
                      </a:r>
                      <a:endParaRPr lang="en-US" sz="1200" dirty="0"/>
                    </a:p>
                  </a:txBody>
                  <a:tcPr marL="91440" marR="91440" marT="45720" marB="4572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accent3"/>
                          </a:solidFill>
                        </a:rPr>
                        <a:t>0 of 20</a:t>
                      </a:r>
                      <a:endParaRPr lang="en-US" sz="1200" dirty="0"/>
                    </a:p>
                  </a:txBody>
                  <a:tcPr marL="91440" marR="91440" marT="45720" marB="4572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chemeClr val="bg1"/>
                    </a:solidFill>
                  </a:tcPr>
                </a:tc>
              </a:tr>
              <a:tr h="457200">
                <a:tc>
                  <a:txBody>
                    <a:bodyPr/>
                    <a:lstStyle/>
                    <a:p>
                      <a:pPr indent="0" marL="0">
                        <a:buNone/>
                      </a:pPr>
                      <a:r>
                        <a:rPr lang="en-US" sz="1200" dirty="0">
                          <a:solidFill>
                            <a:schemeClr val="tx1"/>
                          </a:solidFill>
                        </a:rPr>
                        <a:t>Flapping link</a:t>
                      </a:r>
                      <a:endParaRPr lang="en-US" sz="1200" dirty="0"/>
                    </a:p>
                  </a:txBody>
                  <a:tcPr marL="91440" marR="91440" marT="45720" marB="4572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accent2"/>
                          </a:solidFill>
                        </a:rPr>
                        <a:t>20 of 20</a:t>
                      </a:r>
                      <a:endParaRPr lang="en-US" sz="1200" dirty="0"/>
                    </a:p>
                  </a:txBody>
                  <a:tcPr marL="91440" marR="91440" marT="45720" marB="4572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accent3"/>
                          </a:solidFill>
                        </a:rPr>
                        <a:t>5 of 20</a:t>
                      </a:r>
                      <a:endParaRPr lang="en-US" sz="1200" dirty="0"/>
                    </a:p>
                  </a:txBody>
                  <a:tcPr marL="91440" marR="91440" marT="45720" marB="4572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chemeClr val="bg1"/>
                    </a:solidFill>
                  </a:tcPr>
                </a:tc>
              </a:tr>
              <a:tr h="457200">
                <a:tc>
                  <a:txBody>
                    <a:bodyPr/>
                    <a:lstStyle/>
                    <a:p>
                      <a:pPr indent="0" marL="0">
                        <a:buNone/>
                      </a:pPr>
                      <a:r>
                        <a:rPr lang="en-US" sz="1200" dirty="0">
                          <a:solidFill>
                            <a:schemeClr val="tx1"/>
                          </a:solidFill>
                        </a:rPr>
                        <a:t>Crash and recover</a:t>
                      </a:r>
                      <a:endParaRPr lang="en-US" sz="1200" dirty="0"/>
                    </a:p>
                  </a:txBody>
                  <a:tcPr marL="91440" marR="91440" marT="45720" marB="4572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accent2"/>
                          </a:solidFill>
                        </a:rPr>
                        <a:t>20 of 20</a:t>
                      </a:r>
                      <a:endParaRPr lang="en-US" sz="1200" dirty="0"/>
                    </a:p>
                  </a:txBody>
                  <a:tcPr marL="91440" marR="91440" marT="45720" marB="4572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accent3"/>
                          </a:solidFill>
                        </a:rPr>
                        <a:t>4 of 20</a:t>
                      </a:r>
                      <a:endParaRPr lang="en-US" sz="1200" dirty="0"/>
                    </a:p>
                  </a:txBody>
                  <a:tcPr marL="91440" marR="91440" marT="45720" marB="4572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chemeClr val="bg1"/>
                    </a:solidFill>
                  </a:tcPr>
                </a:tc>
              </a:tr>
              <a:tr h="457200">
                <a:tc>
                  <a:txBody>
                    <a:bodyPr/>
                    <a:lstStyle/>
                    <a:p>
                      <a:pPr indent="0" marL="0">
                        <a:buNone/>
                      </a:pPr>
                      <a:r>
                        <a:rPr lang="en-US" sz="1200" dirty="0">
                          <a:solidFill>
                            <a:schemeClr val="tx1"/>
                          </a:solidFill>
                        </a:rPr>
                        <a:t>Clock skew</a:t>
                      </a:r>
                      <a:endParaRPr lang="en-US" sz="1200" dirty="0"/>
                    </a:p>
                  </a:txBody>
                  <a:tcPr marL="91440" marR="91440" marT="45720" marB="4572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accent2"/>
                          </a:solidFill>
                        </a:rPr>
                        <a:t>20 of 20</a:t>
                      </a:r>
                      <a:endParaRPr lang="en-US" sz="1200" dirty="0"/>
                    </a:p>
                  </a:txBody>
                  <a:tcPr marL="91440" marR="91440" marT="45720" marB="4572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accent3"/>
                          </a:solidFill>
                        </a:rPr>
                        <a:t>0 of 20</a:t>
                      </a:r>
                      <a:endParaRPr lang="en-US" sz="1200" dirty="0"/>
                    </a:p>
                  </a:txBody>
                  <a:tcPr marL="91440" marR="91440" marT="45720" marB="45720" anchor="ctr">
                    <a:lnL w="9525" cap="flat" cmpd="sng" algn="ctr">
                      <a:solidFill>
                        <a:srgbClr val="D8DEEA"/>
                      </a:solidFill>
                      <a:prstDash val="solid"/>
                      <a:round/>
                      <a:headEnd type="none" w="med" len="med"/>
                      <a:tailEnd type="none" w="med" len="med"/>
                    </a:lnL>
                    <a:lnR w="9525" cap="flat" cmpd="sng" algn="ctr">
                      <a:solidFill>
                        <a:srgbClr val="D8DEEA"/>
                      </a:solidFill>
                      <a:prstDash val="solid"/>
                      <a:round/>
                      <a:headEnd type="none" w="med" len="med"/>
                      <a:tailEnd type="none" w="med" len="med"/>
                    </a:lnR>
                    <a:lnT w="9525" cap="flat" cmpd="sng" algn="ctr">
                      <a:solidFill>
                        <a:srgbClr val="D8DEEA"/>
                      </a:solidFill>
                      <a:prstDash val="solid"/>
                      <a:round/>
                      <a:headEnd type="none" w="med" len="med"/>
                      <a:tailEnd type="none" w="med" len="med"/>
                    </a:lnT>
                    <a:lnB w="9525" cap="flat" cmpd="sng" algn="ctr">
                      <a:solidFill>
                        <a:srgbClr val="D8DEEA"/>
                      </a:solidFill>
                      <a:prstDash val="solid"/>
                      <a:round/>
                      <a:headEnd type="none" w="med" len="med"/>
                      <a:tailEnd type="none" w="med" len="med"/>
                    </a:lnB>
                    <a:solidFill>
                      <a:schemeClr val="bg1"/>
                    </a:solidFill>
                  </a:tcPr>
                </a:tc>
              </a:tr>
            </a:tbl>
          </a:graphicData>
        </a:graphic>
      </p:graphicFrame>
      <p:sp>
        <p:nvSpPr>
          <p:cNvPr id="5" name="Text 1"/>
          <p:cNvSpPr txBox="1"/>
          <p:nvPr/>
        </p:nvSpPr>
        <p:spPr>
          <a:xfrm>
            <a:off x="4754880" y="4251960"/>
            <a:ext cx="3931920" cy="274320"/>
          </a:xfrm>
          <a:prstGeom prst="rect">
            <a:avLst/>
          </a:prstGeom>
          <a:noFill/>
          <a:ln/>
        </p:spPr>
        <p:txBody>
          <a:bodyPr wrap="square" lIns="0" tIns="0" rIns="0" bIns="0" rtlCol="0" anchor="t"/>
          <a:lstStyle/>
          <a:p>
            <a:pPr indent="0" marL="0">
              <a:buNone/>
            </a:pPr>
            <a:r>
              <a:rPr lang="en-US" sz="1100" dirty="0">
                <a:solidFill>
                  <a:schemeClr val="accent6"/>
                </a:solidFill>
                <a:latin typeface="Calibri" pitchFamily="34" charset="0"/>
                <a:ea typeface="Calibri" pitchFamily="34" charset="-122"/>
                <a:cs typeface="Calibri" pitchFamily="34" charset="-120"/>
              </a:rPr>
              <a:t>Same failures, same workload, local three-node clusters.</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t"/>
          <a:lstStyle/>
          <a:p>
            <a:pPr algn="l" indent="0" marL="0">
              <a:buNone/>
            </a:pPr>
            <a:r>
              <a:rPr lang="en-US" sz="2800" b="1" dirty="0">
                <a:solidFill>
                  <a:schemeClr val="tx1"/>
                </a:solidFill>
              </a:rPr>
              <a:t>Running on two real clouds</a:t>
            </a:r>
            <a:endParaRPr lang="en-US" sz="2800" dirty="0"/>
          </a:p>
        </p:txBody>
      </p:sp>
      <p:sp>
        <p:nvSpPr>
          <p:cNvPr id="3" name="Cloud infrastructure screenshot frame"/>
          <p:cNvSpPr/>
          <p:nvPr/>
        </p:nvSpPr>
        <p:spPr>
          <a:xfrm>
            <a:off x="512064" y="1152144"/>
            <a:ext cx="5559552" cy="2790226"/>
          </a:xfrm>
          <a:prstGeom prst="roundRect">
            <a:avLst>
              <a:gd name="adj" fmla="val 1966"/>
            </a:avLst>
          </a:prstGeom>
          <a:solidFill>
            <a:schemeClr val="bg1"/>
          </a:solidFill>
          <a:ln w="9525">
            <a:solidFill>
              <a:schemeClr val="accent6">
                <a:alpha val="45000"/>
              </a:schemeClr>
            </a:solidFill>
            <a:prstDash val="solid"/>
          </a:ln>
        </p:spPr>
      </p:sp>
      <p:pic>
        <p:nvPicPr>
          <p:cNvPr id="4" name="Cloud infrastructure screenshot" descr="Cloud infrastructure screenshot">    </p:cNvPr>
          <p:cNvPicPr>
            <a:picLocks noChangeAspect="1"/>
          </p:cNvPicPr>
          <p:nvPr/>
        </p:nvPicPr>
        <p:blipFill>
          <a:blip r:embed="rId1"/>
          <a:stretch>
            <a:fillRect/>
          </a:stretch>
        </p:blipFill>
        <p:spPr>
          <a:xfrm>
            <a:off x="548640" y="1188720"/>
            <a:ext cx="5486400" cy="2717074"/>
          </a:xfrm>
          <a:prstGeom prst="rect">
            <a:avLst/>
          </a:prstGeom>
        </p:spPr>
      </p:pic>
      <p:sp>
        <p:nvSpPr>
          <p:cNvPr id="5" name="Text 2"/>
          <p:cNvSpPr txBox="1"/>
          <p:nvPr/>
        </p:nvSpPr>
        <p:spPr>
          <a:xfrm>
            <a:off x="6400800" y="1188720"/>
            <a:ext cx="914400" cy="731520"/>
          </a:xfrm>
          <a:prstGeom prst="rect">
            <a:avLst/>
          </a:prstGeom>
          <a:noFill/>
          <a:ln/>
        </p:spPr>
        <p:txBody>
          <a:bodyPr wrap="square" lIns="0" tIns="0" rIns="0" bIns="0" rtlCol="0" anchor="t"/>
          <a:lstStyle/>
          <a:p>
            <a:pPr indent="0" marL="0">
              <a:buNone/>
            </a:pPr>
            <a:r>
              <a:rPr lang="en-US" sz="4000" b="1" dirty="0">
                <a:solidFill>
                  <a:schemeClr val="accent1"/>
                </a:solidFill>
                <a:latin typeface="Calibri" pitchFamily="34" charset="0"/>
                <a:ea typeface="Calibri" pitchFamily="34" charset="-122"/>
                <a:cs typeface="Calibri" pitchFamily="34" charset="-120"/>
              </a:rPr>
              <a:t>3</a:t>
            </a:r>
            <a:endParaRPr lang="en-US" sz="4000" dirty="0"/>
          </a:p>
        </p:txBody>
      </p:sp>
      <p:sp>
        <p:nvSpPr>
          <p:cNvPr id="6" name="Text 3"/>
          <p:cNvSpPr txBox="1"/>
          <p:nvPr/>
        </p:nvSpPr>
        <p:spPr>
          <a:xfrm>
            <a:off x="7315200" y="1298448"/>
            <a:ext cx="1371600" cy="731520"/>
          </a:xfrm>
          <a:prstGeom prst="rect">
            <a:avLst/>
          </a:prstGeom>
          <a:noFill/>
          <a:ln/>
        </p:spPr>
        <p:txBody>
          <a:bodyPr wrap="square" lIns="0" tIns="0" rIns="0" bIns="0" rtlCol="0" anchor="t"/>
          <a:lstStyle/>
          <a:p>
            <a:pPr indent="0" marL="0">
              <a:buNone/>
            </a:pPr>
            <a:r>
              <a:rPr lang="en-US" sz="1200" dirty="0">
                <a:solidFill>
                  <a:schemeClr val="accent6"/>
                </a:solidFill>
                <a:latin typeface="Calibri" pitchFamily="34" charset="0"/>
                <a:ea typeface="Calibri" pitchFamily="34" charset="-122"/>
                <a:cs typeface="Calibri" pitchFamily="34" charset="-120"/>
              </a:rPr>
              <a:t>regions on 2 cloud providers</a:t>
            </a:r>
            <a:endParaRPr lang="en-US" sz="1200" dirty="0"/>
          </a:p>
        </p:txBody>
      </p:sp>
      <p:sp>
        <p:nvSpPr>
          <p:cNvPr id="7" name="Text 4"/>
          <p:cNvSpPr txBox="1"/>
          <p:nvPr/>
        </p:nvSpPr>
        <p:spPr>
          <a:xfrm>
            <a:off x="6400800" y="2212848"/>
            <a:ext cx="914400" cy="731520"/>
          </a:xfrm>
          <a:prstGeom prst="rect">
            <a:avLst/>
          </a:prstGeom>
          <a:noFill/>
          <a:ln/>
        </p:spPr>
        <p:txBody>
          <a:bodyPr wrap="square" lIns="0" tIns="0" rIns="0" bIns="0" rtlCol="0" anchor="t"/>
          <a:lstStyle/>
          <a:p>
            <a:pPr indent="0" marL="0">
              <a:buNone/>
            </a:pPr>
            <a:r>
              <a:rPr lang="en-US" sz="4000" b="1" dirty="0">
                <a:solidFill>
                  <a:schemeClr val="accent1"/>
                </a:solidFill>
                <a:latin typeface="Calibri" pitchFamily="34" charset="0"/>
                <a:ea typeface="Calibri" pitchFamily="34" charset="-122"/>
                <a:cs typeface="Calibri" pitchFamily="34" charset="-120"/>
              </a:rPr>
              <a:t>87</a:t>
            </a:r>
            <a:endParaRPr lang="en-US" sz="4000" dirty="0"/>
          </a:p>
        </p:txBody>
      </p:sp>
      <p:sp>
        <p:nvSpPr>
          <p:cNvPr id="8" name="Text 5"/>
          <p:cNvSpPr txBox="1"/>
          <p:nvPr/>
        </p:nvSpPr>
        <p:spPr>
          <a:xfrm>
            <a:off x="7315200" y="2322576"/>
            <a:ext cx="1371600" cy="731520"/>
          </a:xfrm>
          <a:prstGeom prst="rect">
            <a:avLst/>
          </a:prstGeom>
          <a:noFill/>
          <a:ln/>
        </p:spPr>
        <p:txBody>
          <a:bodyPr wrap="square" lIns="0" tIns="0" rIns="0" bIns="0" rtlCol="0" anchor="t"/>
          <a:lstStyle/>
          <a:p>
            <a:pPr indent="0" marL="0">
              <a:buNone/>
            </a:pPr>
            <a:r>
              <a:rPr lang="en-US" sz="1200" dirty="0">
                <a:solidFill>
                  <a:schemeClr val="accent6"/>
                </a:solidFill>
                <a:latin typeface="Calibri" pitchFamily="34" charset="0"/>
                <a:ea typeface="Calibri" pitchFamily="34" charset="-122"/>
                <a:cs typeface="Calibri" pitchFamily="34" charset="-120"/>
              </a:rPr>
              <a:t>automated engine tests passing</a:t>
            </a:r>
            <a:endParaRPr lang="en-US" sz="1200" dirty="0"/>
          </a:p>
        </p:txBody>
      </p:sp>
      <p:sp>
        <p:nvSpPr>
          <p:cNvPr id="9" name="Text 6"/>
          <p:cNvSpPr txBox="1"/>
          <p:nvPr/>
        </p:nvSpPr>
        <p:spPr>
          <a:xfrm>
            <a:off x="6400800" y="3236976"/>
            <a:ext cx="914400" cy="731520"/>
          </a:xfrm>
          <a:prstGeom prst="rect">
            <a:avLst/>
          </a:prstGeom>
          <a:noFill/>
          <a:ln/>
        </p:spPr>
        <p:txBody>
          <a:bodyPr wrap="square" lIns="0" tIns="0" rIns="0" bIns="0" rtlCol="0" anchor="t"/>
          <a:lstStyle/>
          <a:p>
            <a:pPr indent="0" marL="0">
              <a:buNone/>
            </a:pPr>
            <a:r>
              <a:rPr lang="en-US" sz="4000" b="1" dirty="0">
                <a:solidFill>
                  <a:schemeClr val="accent1"/>
                </a:solidFill>
                <a:latin typeface="Calibri" pitchFamily="34" charset="0"/>
                <a:ea typeface="Calibri" pitchFamily="34" charset="-122"/>
                <a:cs typeface="Calibri" pitchFamily="34" charset="-120"/>
              </a:rPr>
              <a:t>31</a:t>
            </a:r>
            <a:endParaRPr lang="en-US" sz="4000" dirty="0"/>
          </a:p>
        </p:txBody>
      </p:sp>
      <p:sp>
        <p:nvSpPr>
          <p:cNvPr id="10" name="Text 7"/>
          <p:cNvSpPr txBox="1"/>
          <p:nvPr/>
        </p:nvSpPr>
        <p:spPr>
          <a:xfrm>
            <a:off x="7315200" y="3346704"/>
            <a:ext cx="1371600" cy="731520"/>
          </a:xfrm>
          <a:prstGeom prst="rect">
            <a:avLst/>
          </a:prstGeom>
          <a:noFill/>
          <a:ln/>
        </p:spPr>
        <p:txBody>
          <a:bodyPr wrap="square" lIns="0" tIns="0" rIns="0" bIns="0" rtlCol="0" anchor="t"/>
          <a:lstStyle/>
          <a:p>
            <a:pPr indent="0" marL="0">
              <a:buNone/>
            </a:pPr>
            <a:r>
              <a:rPr lang="en-US" sz="1200" dirty="0">
                <a:solidFill>
                  <a:schemeClr val="accent6"/>
                </a:solidFill>
                <a:latin typeface="Calibri" pitchFamily="34" charset="0"/>
                <a:ea typeface="Calibri" pitchFamily="34" charset="-122"/>
                <a:cs typeface="Calibri" pitchFamily="34" charset="-120"/>
              </a:rPr>
              <a:t>browser checks passing on AWS and Azure</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t"/>
          <a:lstStyle/>
          <a:p>
            <a:pPr algn="l" indent="0" marL="0">
              <a:buNone/>
            </a:pPr>
            <a:r>
              <a:rPr lang="en-US" sz="2800" b="1" dirty="0">
                <a:solidFill>
                  <a:schemeClr val="tx1"/>
                </a:solidFill>
              </a:rPr>
              <a:t>What it does not do yet</a:t>
            </a:r>
            <a:endParaRPr lang="en-US" sz="2800" dirty="0"/>
          </a:p>
        </p:txBody>
      </p:sp>
      <p:sp>
        <p:nvSpPr>
          <p:cNvPr id="3" name="Limits card"/>
          <p:cNvSpPr/>
          <p:nvPr/>
        </p:nvSpPr>
        <p:spPr>
          <a:xfrm>
            <a:off x="548640" y="1280160"/>
            <a:ext cx="3931920" cy="2926080"/>
          </a:xfrm>
          <a:prstGeom prst="roundRect">
            <a:avLst>
              <a:gd name="adj" fmla="val 2500"/>
            </a:avLst>
          </a:prstGeom>
          <a:solidFill>
            <a:schemeClr val="bg2"/>
          </a:solidFill>
          <a:ln w="12700">
            <a:solidFill>
              <a:schemeClr val="bg2"/>
            </a:solidFill>
            <a:prstDash val="solid"/>
          </a:ln>
        </p:spPr>
      </p:sp>
      <p:sp>
        <p:nvSpPr>
          <p:cNvPr id="4" name="Next card"/>
          <p:cNvSpPr/>
          <p:nvPr/>
        </p:nvSpPr>
        <p:spPr>
          <a:xfrm>
            <a:off x="4663440" y="1280160"/>
            <a:ext cx="3931920" cy="2926080"/>
          </a:xfrm>
          <a:prstGeom prst="roundRect">
            <a:avLst>
              <a:gd name="adj" fmla="val 2500"/>
            </a:avLst>
          </a:prstGeom>
          <a:solidFill>
            <a:schemeClr val="bg2"/>
          </a:solidFill>
          <a:ln w="12700">
            <a:solidFill>
              <a:schemeClr val="bg2"/>
            </a:solidFill>
            <a:prstDash val="solid"/>
          </a:ln>
        </p:spPr>
      </p:sp>
      <p:sp>
        <p:nvSpPr>
          <p:cNvPr id="5" name="Text 3"/>
          <p:cNvSpPr txBox="1"/>
          <p:nvPr/>
        </p:nvSpPr>
        <p:spPr>
          <a:xfrm>
            <a:off x="777240" y="1463040"/>
            <a:ext cx="3474720" cy="36576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Honest limits</a:t>
            </a:r>
            <a:endParaRPr lang="en-US" sz="1800" dirty="0"/>
          </a:p>
        </p:txBody>
      </p:sp>
      <p:sp>
        <p:nvSpPr>
          <p:cNvPr id="6" name="Text 4"/>
          <p:cNvSpPr txBox="1"/>
          <p:nvPr/>
        </p:nvSpPr>
        <p:spPr>
          <a:xfrm>
            <a:off x="777240" y="1920240"/>
            <a:ext cx="3474720" cy="21031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latin typeface="Calibri" pitchFamily="34" charset="0"/>
                <a:ea typeface="Calibri" pitchFamily="34" charset="-122"/>
                <a:cs typeface="Calibri" pitchFamily="34" charset="-120"/>
              </a:rPr>
              <a:t>Reservations are enforced in the application layer, not the engine</a:t>
            </a:r>
            <a:endParaRPr lang="en-US" sz="1300" dirty="0"/>
          </a:p>
          <a:p>
            <a:pPr marL="342900" indent="-342900">
              <a:spcAft>
                <a:spcPts val="800"/>
              </a:spcAft>
              <a:buSzPct val="100000"/>
              <a:buChar char="•"/>
            </a:pPr>
            <a:r>
              <a:rPr lang="en-US" sz="1300" dirty="0">
                <a:solidFill>
                  <a:schemeClr val="tx1"/>
                </a:solidFill>
                <a:latin typeface="Calibri" pitchFamily="34" charset="0"/>
                <a:ea typeface="Calibri" pitchFamily="34" charset="-122"/>
                <a:cs typeface="Calibri" pitchFamily="34" charset="-120"/>
              </a:rPr>
              <a:t>Access control is a shared admin token, not per-user permissions</a:t>
            </a:r>
            <a:endParaRPr lang="en-US" sz="1300" dirty="0"/>
          </a:p>
          <a:p>
            <a:pPr marL="342900" indent="-342900">
              <a:spcAft>
                <a:spcPts val="800"/>
              </a:spcAft>
              <a:buSzPct val="100000"/>
              <a:buChar char="•"/>
            </a:pPr>
            <a:r>
              <a:rPr lang="en-US" sz="1300" dirty="0">
                <a:solidFill>
                  <a:schemeClr val="tx1"/>
                </a:solidFill>
                <a:latin typeface="Calibri" pitchFamily="34" charset="0"/>
                <a:ea typeface="Calibri" pitchFamily="34" charset="-122"/>
                <a:cs typeface="Calibri" pitchFamily="34" charset="-120"/>
              </a:rPr>
              <a:t>The partition is simulated in the app; servers stay reachable</a:t>
            </a:r>
            <a:endParaRPr lang="en-US" sz="1300" dirty="0"/>
          </a:p>
        </p:txBody>
      </p:sp>
      <p:sp>
        <p:nvSpPr>
          <p:cNvPr id="7" name="Text 5"/>
          <p:cNvSpPr txBox="1"/>
          <p:nvPr/>
        </p:nvSpPr>
        <p:spPr>
          <a:xfrm>
            <a:off x="4892040" y="1463040"/>
            <a:ext cx="3474720" cy="36576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Next</a:t>
            </a:r>
            <a:endParaRPr lang="en-US" sz="1800" dirty="0"/>
          </a:p>
        </p:txBody>
      </p:sp>
      <p:sp>
        <p:nvSpPr>
          <p:cNvPr id="8" name="Text 6"/>
          <p:cNvSpPr txBox="1"/>
          <p:nvPr/>
        </p:nvSpPr>
        <p:spPr>
          <a:xfrm>
            <a:off x="4892040" y="1920240"/>
            <a:ext cx="3474720" cy="21031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latin typeface="Calibri" pitchFamily="34" charset="0"/>
                <a:ea typeface="Calibri" pitchFamily="34" charset="-122"/>
                <a:cs typeface="Calibri" pitchFamily="34" charset="-120"/>
              </a:rPr>
              <a:t>Enforce stock reservations inside the engine</a:t>
            </a:r>
            <a:endParaRPr lang="en-US" sz="1300" dirty="0"/>
          </a:p>
          <a:p>
            <a:pPr marL="342900" indent="-342900">
              <a:spcAft>
                <a:spcPts val="800"/>
              </a:spcAft>
              <a:buSzPct val="100000"/>
              <a:buChar char="•"/>
            </a:pPr>
            <a:r>
              <a:rPr lang="en-US" sz="1300" dirty="0">
                <a:solidFill>
                  <a:schemeClr val="tx1"/>
                </a:solidFill>
                <a:latin typeface="Calibri" pitchFamily="34" charset="0"/>
                <a:ea typeface="Calibri" pitchFamily="34" charset="-122"/>
                <a:cs typeface="Calibri" pitchFamily="34" charset="-120"/>
              </a:rPr>
              <a:t>Data residency rules: keep tagged records inside a country</a:t>
            </a:r>
            <a:endParaRPr lang="en-US" sz="1300" dirty="0"/>
          </a:p>
          <a:p>
            <a:pPr marL="342900" indent="-342900">
              <a:spcAft>
                <a:spcPts val="800"/>
              </a:spcAft>
              <a:buSzPct val="100000"/>
              <a:buChar char="•"/>
            </a:pPr>
            <a:r>
              <a:rPr lang="en-US" sz="1300" dirty="0">
                <a:solidFill>
                  <a:schemeClr val="tx1"/>
                </a:solidFill>
                <a:latin typeface="Calibri" pitchFamily="34" charset="0"/>
                <a:ea typeface="Calibri" pitchFamily="34" charset="-122"/>
                <a:cs typeface="Calibri" pitchFamily="34" charset="-120"/>
              </a:rPr>
              <a:t>Time travel: scrub an outage and see each region's state</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40080" y="1371600"/>
            <a:ext cx="7863840" cy="914400"/>
          </a:xfrm>
          <a:prstGeom prst="rect">
            <a:avLst/>
          </a:prstGeom>
          <a:noFill/>
          <a:ln/>
        </p:spPr>
        <p:txBody>
          <a:bodyPr wrap="square" lIns="0" tIns="0" rIns="0" bIns="0" rtlCol="0" anchor="t"/>
          <a:lstStyle/>
          <a:p>
            <a:pPr indent="0" marL="0">
              <a:buNone/>
            </a:pPr>
            <a:r>
              <a:rPr lang="en-US" sz="4400" b="1" dirty="0">
                <a:solidFill>
                  <a:schemeClr val="bg1"/>
                </a:solidFill>
                <a:latin typeface="Calibri" pitchFamily="34" charset="0"/>
                <a:ea typeface="Calibri" pitchFamily="34" charset="-122"/>
                <a:cs typeface="Calibri" pitchFamily="34" charset="-120"/>
              </a:rPr>
              <a:t>Nothing is dropped silently.</a:t>
            </a:r>
            <a:endParaRPr lang="en-US" sz="4400" dirty="0"/>
          </a:p>
        </p:txBody>
      </p:sp>
      <p:sp>
        <p:nvSpPr>
          <p:cNvPr id="3" name="Text 1"/>
          <p:cNvSpPr txBox="1"/>
          <p:nvPr/>
        </p:nvSpPr>
        <p:spPr>
          <a:xfrm>
            <a:off x="640080" y="2423160"/>
            <a:ext cx="6949440" cy="822960"/>
          </a:xfrm>
          <a:prstGeom prst="rect">
            <a:avLst/>
          </a:prstGeom>
          <a:noFill/>
          <a:ln/>
        </p:spPr>
        <p:txBody>
          <a:bodyPr wrap="square" lIns="0" tIns="0" rIns="0" bIns="0" rtlCol="0" anchor="t"/>
          <a:lstStyle/>
          <a:p>
            <a:pPr indent="0" marL="0">
              <a:buNone/>
            </a:pPr>
            <a:r>
              <a:rPr lang="en-US" sz="1800" dirty="0">
                <a:solidFill>
                  <a:schemeClr val="bg1"/>
                </a:solidFill>
                <a:latin typeface="Calibri" pitchFamily="34" charset="0"/>
                <a:ea typeface="Calibri" pitchFamily="34" charset="-122"/>
                <a:cs typeface="Calibri" pitchFamily="34" charset="-120"/>
              </a:rPr>
              <a:t>Regions keep working through a partition, merge by documented rules, and explain every decision.</a:t>
            </a:r>
            <a:endParaRPr lang="en-US" sz="1800" dirty="0"/>
          </a:p>
        </p:txBody>
      </p:sp>
      <p:sp>
        <p:nvSpPr>
          <p:cNvPr id="4" name="Text 2"/>
          <p:cNvSpPr txBox="1"/>
          <p:nvPr/>
        </p:nvSpPr>
        <p:spPr>
          <a:xfrm>
            <a:off x="640080" y="4023360"/>
            <a:ext cx="5486400" cy="32004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github.com/Shadab7621/CodeAstra</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DisasterSync">
  <a:themeElements>
    <a:clrScheme name="DisasterSync">
      <a:dk1>
        <a:srgbClr val="0F172A"/>
      </a:dk1>
      <a:lt1>
        <a:srgbClr val="FFFFFF"/>
      </a:lt1>
      <a:dk2>
        <a:srgbClr val="0B1F3A"/>
      </a:dk2>
      <a:lt2>
        <a:srgbClr val="F1F4FA"/>
      </a:lt2>
      <a:accent1>
        <a:srgbClr val="4F5BFF"/>
      </a:accent1>
      <a:accent2>
        <a:srgbClr val="0C9A6C"/>
      </a:accent2>
      <a:accent3>
        <a:srgbClr val="D64545"/>
      </a:accent3>
      <a:accent4>
        <a:srgbClr val="C97A0A"/>
      </a:accent4>
      <a:accent5>
        <a:srgbClr val="1C7293"/>
      </a:accent5>
      <a:accent6>
        <a:srgbClr val="5B6578"/>
      </a:accent6>
      <a:hlink>
        <a:srgbClr val="4F5BFF"/>
      </a:hlink>
      <a:folHlink>
        <a:srgbClr val="5B6578"/>
      </a:folHlink>
    </a:clrScheme>
    <a:fontScheme name="DisasterSync">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DisasterSync</dc:title>
  <dc:subject>PptxGenJS Presentation</dc:subject>
  <dc:creator>Team DisasterSync</dc:creator>
  <cp:lastModifiedBy>Team DisasterSync</cp:lastModifiedBy>
  <cp:revision>1</cp:revision>
  <dcterms:created xsi:type="dcterms:W3CDTF">2026-10-13T01:53:50Z</dcterms:created>
  <dcterms:modified xsi:type="dcterms:W3CDTF">2026-10-13T01:53:50Z</dcterms:modified>
</cp:coreProperties>
</file>