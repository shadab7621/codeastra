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name and leader name are left as placeholders; fill them in before submitting. 'Disaster' in this project means network failure or partition between regions, not a natural disaster.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Disaster here means network failure between regions. Three limits of simple replication: (1) last-writer-wins silently overwrites one of two concurrent updates, (2) some systems stop accepting writes during a partition, (3) updates are not verified. Gap 3 is addressed by proposed security enhancements (see slide 5); it is not implemented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four steps left to right. Everything under 'Key features' is implemented in the engine (engine/app). Durability is derived from what peer nodes have reported holding.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Implemented in engine/app: store.py (event log), hlc.py (hybrid logical clock), merge.py (merge rules and conflict ledger), sync.py (replication), main.py (API). Merge rules come from docs/00_CONTRACT.md section 3.4. Ordering of events uses version vectors; the hybrid clock only picks a display value between concurrent writes.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items are proposed, not implemented. Security additions (signatures, replay protection, TLS) are proposals. The comparison against last-writer-wins is planned; the baseline and chaos tester are not built yet, so no numbers are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Status reflects the repository at the time of writing: the engine, fault injection, tests, Docker packaging, AWS deploy script and admin token exist. The baseline, chaos tester and dashboard are specified in docs/ but not built. Signatures, replay protection and TLS are proposals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Header (MCT / RGIT)" descr="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9541" y="0"/>
            <a:ext cx="9867900" cy="1447800"/>
          </a:xfrm>
          <a:prstGeom prst="rect">
            <a:avLst/>
          </a:prstGeom>
        </p:spPr>
      </p:pic>
      <p:pic>
        <p:nvPicPr>
          <p:cNvPr id="4" name="Logo ABIT" descr="logo_a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52400"/>
            <a:ext cx="1295400" cy="1295400"/>
          </a:xfrm>
          <a:prstGeom prst="rect">
            <a:avLst/>
          </a:prstGeom>
        </p:spPr>
      </p:pic>
      <p:pic>
        <p:nvPicPr>
          <p:cNvPr id="5" name="Logo Synergy" descr="logo_sy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84041" y="152400"/>
            <a:ext cx="1171575" cy="1295400"/>
          </a:xfrm>
          <a:prstGeom prst="rect">
            <a:avLst/>
          </a:prstGeom>
        </p:spPr>
      </p:pic>
      <p:pic>
        <p:nvPicPr>
          <p:cNvPr id="6" name="CODEASTRA 2.0 logo" descr="title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0400" y="-685800"/>
            <a:ext cx="8521700" cy="5676900"/>
          </a:xfrm>
          <a:prstGeom prst="rect">
            <a:avLst/>
          </a:prstGeom>
        </p:spPr>
      </p:pic>
      <p:sp>
        <p:nvSpPr>
          <p:cNvPr id="7" name="Slide Title"/>
          <p:cNvSpPr txBox="1"/>
          <p:nvPr/>
        </p:nvSpPr>
        <p:spPr>
          <a:xfrm>
            <a:off x="5880100" y="2926080"/>
            <a:ext cx="11978640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4050" b="0" i="0">
                <a:solidFill>
                  <a:srgbClr val="FFFFFF"/>
                </a:solidFill>
                <a:latin typeface="Times New Roman"/>
              </a:rPr>
              <a:t>Team Details</a:t>
            </a:r>
          </a:p>
        </p:txBody>
      </p:sp>
      <p:sp>
        <p:nvSpPr>
          <p:cNvPr id="8" name="Team Name"/>
          <p:cNvSpPr txBox="1"/>
          <p:nvPr/>
        </p:nvSpPr>
        <p:spPr>
          <a:xfrm>
            <a:off x="1566672" y="5120640"/>
            <a:ext cx="16002000" cy="566928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 i="0">
                <a:solidFill>
                  <a:srgbClr val="FFFFFF"/>
                </a:solidFill>
                <a:latin typeface="Times New Roman"/>
              </a:rPr>
              <a:t>Team Name : </a:t>
            </a:r>
            <a:r>
              <a:rPr sz="3000" b="0" i="0">
                <a:solidFill>
                  <a:srgbClr val="45BBA0"/>
                </a:solidFill>
                <a:latin typeface="Times New Roman"/>
              </a:rPr>
              <a:t>[Add team name]</a:t>
            </a:r>
          </a:p>
        </p:txBody>
      </p:sp>
      <p:sp>
        <p:nvSpPr>
          <p:cNvPr id="9" name="Leader Name"/>
          <p:cNvSpPr txBox="1"/>
          <p:nvPr/>
        </p:nvSpPr>
        <p:spPr>
          <a:xfrm>
            <a:off x="1566672" y="5742431"/>
            <a:ext cx="16002000" cy="566928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 i="0">
                <a:solidFill>
                  <a:srgbClr val="FFFFFF"/>
                </a:solidFill>
                <a:latin typeface="Times New Roman"/>
              </a:rPr>
              <a:t>Leader Name : </a:t>
            </a:r>
            <a:r>
              <a:rPr sz="3000" b="0" i="0">
                <a:solidFill>
                  <a:srgbClr val="45BBA0"/>
                </a:solidFill>
                <a:latin typeface="Times New Roman"/>
              </a:rPr>
              <a:t>[Add leader name]</a:t>
            </a:r>
          </a:p>
        </p:txBody>
      </p:sp>
      <p:sp>
        <p:nvSpPr>
          <p:cNvPr id="10" name="Domain Chosen"/>
          <p:cNvSpPr txBox="1"/>
          <p:nvPr/>
        </p:nvSpPr>
        <p:spPr>
          <a:xfrm>
            <a:off x="1566672" y="6364223"/>
            <a:ext cx="16002000" cy="566928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 i="0">
                <a:solidFill>
                  <a:srgbClr val="FFFFFF"/>
                </a:solidFill>
                <a:latin typeface="Times New Roman"/>
              </a:rPr>
              <a:t>Domain Chosen : </a:t>
            </a:r>
            <a:r>
              <a:rPr sz="3000" b="0" i="0">
                <a:solidFill>
                  <a:srgbClr val="FFFFFF"/>
                </a:solidFill>
                <a:latin typeface="Times New Roman"/>
              </a:rPr>
              <a:t>Cloud Computing / Distributed Systems</a:t>
            </a:r>
          </a:p>
        </p:txBody>
      </p:sp>
      <p:sp>
        <p:nvSpPr>
          <p:cNvPr id="11" name="Problem Statement"/>
          <p:cNvSpPr txBox="1"/>
          <p:nvPr/>
        </p:nvSpPr>
        <p:spPr>
          <a:xfrm>
            <a:off x="1566672" y="6986015"/>
            <a:ext cx="11155680" cy="11430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 i="0">
                <a:solidFill>
                  <a:srgbClr val="FFFFFF"/>
                </a:solidFill>
                <a:latin typeface="Times New Roman"/>
              </a:rPr>
              <a:t>Problem Statement : </a:t>
            </a:r>
            <a:r>
              <a:rPr sz="3000" b="0" i="0">
                <a:solidFill>
                  <a:srgbClr val="FFFFFF"/>
                </a:solidFill>
                <a:latin typeface="Times New Roman"/>
              </a:rPr>
              <a:t>Geo-Distributed Disaster Data Replication with Graceful Degradation</a:t>
            </a:r>
          </a:p>
        </p:txBody>
      </p:sp>
      <p:sp>
        <p:nvSpPr>
          <p:cNvPr id="12" name="Project"/>
          <p:cNvSpPr txBox="1"/>
          <p:nvPr/>
        </p:nvSpPr>
        <p:spPr>
          <a:xfrm>
            <a:off x="1566672" y="8403336"/>
            <a:ext cx="1600200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FFFFFF"/>
                </a:solidFill>
                <a:latin typeface="Times New Roman"/>
              </a:rPr>
              <a:t>Project : </a:t>
            </a:r>
            <a:r>
              <a:rPr sz="3200" b="1" i="0">
                <a:solidFill>
                  <a:srgbClr val="FFFFFF"/>
                </a:solidFill>
                <a:latin typeface="Times New Roman"/>
              </a:rPr>
              <a:t>DisasterSync (CodeAstra)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Header (MCT / RGIT)" descr="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9541" y="0"/>
            <a:ext cx="9867900" cy="1447800"/>
          </a:xfrm>
          <a:prstGeom prst="rect">
            <a:avLst/>
          </a:prstGeom>
        </p:spPr>
      </p:pic>
      <p:pic>
        <p:nvPicPr>
          <p:cNvPr id="4" name="Logo ABIT" descr="logo_a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52400"/>
            <a:ext cx="1295400" cy="1295400"/>
          </a:xfrm>
          <a:prstGeom prst="rect">
            <a:avLst/>
          </a:prstGeom>
        </p:spPr>
      </p:pic>
      <p:pic>
        <p:nvPicPr>
          <p:cNvPr id="5" name="Logo Synergy" descr="logo_sy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84041" y="152400"/>
            <a:ext cx="1171575" cy="1295400"/>
          </a:xfrm>
          <a:prstGeom prst="rect">
            <a:avLst/>
          </a:prstGeom>
        </p:spPr>
      </p:pic>
      <p:sp>
        <p:nvSpPr>
          <p:cNvPr id="6" name="Slide Title"/>
          <p:cNvSpPr txBox="1"/>
          <p:nvPr/>
        </p:nvSpPr>
        <p:spPr>
          <a:xfrm>
            <a:off x="918971" y="1828800"/>
            <a:ext cx="10972800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0" i="0">
                <a:solidFill>
                  <a:srgbClr val="FFFFFF"/>
                </a:solidFill>
                <a:latin typeface="Times New Roman"/>
              </a:rPr>
              <a:t>Problem Analysis</a:t>
            </a:r>
          </a:p>
        </p:txBody>
      </p:sp>
      <p:sp>
        <p:nvSpPr>
          <p:cNvPr id="7" name="Key message"/>
          <p:cNvSpPr txBox="1"/>
          <p:nvPr/>
        </p:nvSpPr>
        <p:spPr>
          <a:xfrm>
            <a:off x="918971" y="2487168"/>
            <a:ext cx="1627632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D6DBE6"/>
                </a:solidFill>
                <a:latin typeface="Times New Roman"/>
              </a:rPr>
              <a:t>When regions lose their connection, simple replication either loses updates or stops accepting them.</a:t>
            </a:r>
          </a:p>
        </p:txBody>
      </p:sp>
      <p:sp>
        <p:nvSpPr>
          <p:cNvPr id="8" name="Node Mumbai"/>
          <p:cNvSpPr/>
          <p:nvPr/>
        </p:nvSpPr>
        <p:spPr>
          <a:xfrm>
            <a:off x="2011680" y="3246120"/>
            <a:ext cx="3017520" cy="1234440"/>
          </a:xfrm>
          <a:prstGeom prst="roundRect">
            <a:avLst>
              <a:gd name="adj" fmla="val 6000"/>
            </a:avLst>
          </a:prstGeom>
          <a:solidFill>
            <a:srgbClr val="141B30">
              <a:alpha val="80000"/>
            </a:srgbClr>
          </a:solidFill>
          <a:ln w="38100">
            <a:solidFill>
              <a:srgbClr val="6CB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Times New Roman"/>
              </a:rPr>
              <a:t>Mumbai</a:t>
            </a:r>
          </a:p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D6DBE6"/>
                </a:solidFill>
                <a:latin typeface="Times New Roman"/>
              </a:rPr>
              <a:t>Node 1 · MUM</a:t>
            </a:r>
          </a:p>
        </p:txBody>
      </p:sp>
      <p:sp>
        <p:nvSpPr>
          <p:cNvPr id="9" name="Node Hyderabad"/>
          <p:cNvSpPr/>
          <p:nvPr/>
        </p:nvSpPr>
        <p:spPr>
          <a:xfrm>
            <a:off x="7635240" y="3246120"/>
            <a:ext cx="3017520" cy="1234440"/>
          </a:xfrm>
          <a:prstGeom prst="roundRect">
            <a:avLst>
              <a:gd name="adj" fmla="val 6000"/>
            </a:avLst>
          </a:prstGeom>
          <a:solidFill>
            <a:srgbClr val="141B30">
              <a:alpha val="80000"/>
            </a:srgbClr>
          </a:solidFill>
          <a:ln w="381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Times New Roman"/>
              </a:rPr>
              <a:t>Hyderabad</a:t>
            </a:r>
          </a:p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D6DBE6"/>
                </a:solidFill>
                <a:latin typeface="Times New Roman"/>
              </a:rPr>
              <a:t>Node 2 · HYD</a:t>
            </a:r>
          </a:p>
        </p:txBody>
      </p:sp>
      <p:sp>
        <p:nvSpPr>
          <p:cNvPr id="10" name="Node Singapore"/>
          <p:cNvSpPr/>
          <p:nvPr/>
        </p:nvSpPr>
        <p:spPr>
          <a:xfrm>
            <a:off x="13258800" y="3246120"/>
            <a:ext cx="3017520" cy="1234440"/>
          </a:xfrm>
          <a:prstGeom prst="roundRect">
            <a:avLst>
              <a:gd name="adj" fmla="val 6000"/>
            </a:avLst>
          </a:prstGeom>
          <a:solidFill>
            <a:srgbClr val="141B30">
              <a:alpha val="80000"/>
            </a:srgbClr>
          </a:solidFill>
          <a:ln w="38100">
            <a:solidFill>
              <a:srgbClr val="6BD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Times New Roman"/>
              </a:rPr>
              <a:t>Singapore</a:t>
            </a:r>
          </a:p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D6DBE6"/>
                </a:solidFill>
                <a:latin typeface="Times New Roman"/>
              </a:rPr>
              <a:t>Node 3 · SIN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20640" y="3858768"/>
            <a:ext cx="2423160" cy="0"/>
          </a:xfrm>
          <a:prstGeom prst="line">
            <a:avLst/>
          </a:prstGeom>
          <a:ln w="38100">
            <a:solidFill>
              <a:srgbClr val="F06A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783580" y="3200400"/>
            <a:ext cx="1097280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06A72"/>
                </a:solidFill>
                <a:latin typeface="Times New Roman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4940" y="3977639"/>
            <a:ext cx="219456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F06A72"/>
                </a:solidFill>
                <a:latin typeface="Times New Roman"/>
              </a:rPr>
              <a:t>Connection lost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744200" y="3858768"/>
            <a:ext cx="2423160" cy="0"/>
          </a:xfrm>
          <a:prstGeom prst="line">
            <a:avLst/>
          </a:prstGeom>
          <a:ln w="38100">
            <a:solidFill>
              <a:srgbClr val="F06A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407140" y="3200400"/>
            <a:ext cx="1097280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06A72"/>
                </a:solidFill>
                <a:latin typeface="Times New Roman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58500" y="3977639"/>
            <a:ext cx="219456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F06A72"/>
                </a:solidFill>
                <a:latin typeface="Times New Roman"/>
              </a:rPr>
              <a:t>Connection lost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" y="4709160"/>
            <a:ext cx="16276320" cy="5029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D6DBE6"/>
                </a:solidFill>
                <a:latin typeface="Times New Roman"/>
              </a:rPr>
              <a:t>Here “disaster” means </a:t>
            </a:r>
            <a:r>
              <a:rPr sz="2200" b="1" i="0">
                <a:solidFill>
                  <a:srgbClr val="45BBA0"/>
                </a:solidFill>
                <a:latin typeface="Times New Roman"/>
              </a:rPr>
              <a:t>network failure</a:t>
            </a:r>
            <a:r>
              <a:rPr sz="2200" b="0" i="0">
                <a:solidFill>
                  <a:srgbClr val="D6DBE6"/>
                </a:solidFill>
                <a:latin typeface="Times New Roman"/>
              </a:rPr>
              <a:t>: regions keep running but cannot reach each other.</a:t>
            </a:r>
          </a:p>
        </p:txBody>
      </p:sp>
      <p:sp>
        <p:nvSpPr>
          <p:cNvPr id="18" name="Card 1"/>
          <p:cNvSpPr/>
          <p:nvPr/>
        </p:nvSpPr>
        <p:spPr>
          <a:xfrm>
            <a:off x="1028700" y="5486400"/>
            <a:ext cx="5120640" cy="3749039"/>
          </a:xfrm>
          <a:prstGeom prst="roundRect">
            <a:avLst>
              <a:gd name="adj" fmla="val 6000"/>
            </a:avLst>
          </a:prstGeom>
          <a:solidFill>
            <a:srgbClr val="141B30">
              <a:alpha val="75000"/>
            </a:srgbClr>
          </a:solidFill>
          <a:ln w="31750">
            <a:solidFill>
              <a:srgbClr val="F06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5860" y="5623560"/>
            <a:ext cx="4846320" cy="9144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06A72"/>
                </a:solidFill>
                <a:latin typeface="Times New Roman"/>
              </a:rPr>
              <a:t>Gap 1: Updates can be lost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5860" y="6629400"/>
            <a:ext cx="4846320" cy="31089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D6DBE6"/>
                </a:solidFill>
                <a:latin typeface="Times New Roman"/>
              </a:rPr>
              <a:t>Mumbai writes: </a:t>
            </a:r>
            <a:r>
              <a:rPr sz="2200" b="1" i="0">
                <a:solidFill>
                  <a:srgbClr val="FFFFFF"/>
                </a:solidFill>
                <a:latin typeface="Times New Roman"/>
              </a:rPr>
              <a:t>“Road blocked”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D6DBE6"/>
                </a:solidFill>
                <a:latin typeface="Times New Roman"/>
              </a:rPr>
              <a:t>Hyderabad writes: </a:t>
            </a:r>
            <a:r>
              <a:rPr sz="2200" b="1" i="0">
                <a:solidFill>
                  <a:srgbClr val="FFFFFF"/>
                </a:solidFill>
                <a:latin typeface="Times New Roman"/>
              </a:rPr>
              <a:t>“Road cleared”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FFFFFF"/>
                </a:solidFill>
                <a:latin typeface="Times New Roman"/>
              </a:rPr>
              <a:t>Last-Writer-Wins keeps one and silently drops the other.</a:t>
            </a:r>
          </a:p>
        </p:txBody>
      </p:sp>
      <p:sp>
        <p:nvSpPr>
          <p:cNvPr id="21" name="Card 2"/>
          <p:cNvSpPr/>
          <p:nvPr/>
        </p:nvSpPr>
        <p:spPr>
          <a:xfrm>
            <a:off x="6675120" y="5486400"/>
            <a:ext cx="5120640" cy="3749039"/>
          </a:xfrm>
          <a:prstGeom prst="roundRect">
            <a:avLst>
              <a:gd name="adj" fmla="val 6000"/>
            </a:avLst>
          </a:prstGeom>
          <a:solidFill>
            <a:srgbClr val="141B30">
              <a:alpha val="75000"/>
            </a:srgbClr>
          </a:solidFill>
          <a:ln w="3175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5623560"/>
            <a:ext cx="4846320" cy="9144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2C14E"/>
                </a:solidFill>
                <a:latin typeface="Times New Roman"/>
              </a:rPr>
              <a:t>Gap 2: Writes may be refused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6629400"/>
            <a:ext cx="4846320" cy="31089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FFFFFF"/>
                </a:solidFill>
                <a:latin typeface="Times New Roman"/>
              </a:rPr>
              <a:t>Some designs refuse writes when the link to the primary region is down.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FFFFFF"/>
                </a:solidFill>
                <a:latin typeface="Times New Roman"/>
              </a:rPr>
              <a:t>Field users must wait for the network to return, which is exactly when reports matter most.</a:t>
            </a:r>
          </a:p>
        </p:txBody>
      </p:sp>
      <p:sp>
        <p:nvSpPr>
          <p:cNvPr id="24" name="Card 3"/>
          <p:cNvSpPr/>
          <p:nvPr/>
        </p:nvSpPr>
        <p:spPr>
          <a:xfrm>
            <a:off x="12321540" y="5486400"/>
            <a:ext cx="5120640" cy="3749039"/>
          </a:xfrm>
          <a:prstGeom prst="roundRect">
            <a:avLst>
              <a:gd name="adj" fmla="val 6000"/>
            </a:avLst>
          </a:prstGeom>
          <a:solidFill>
            <a:srgbClr val="141B30">
              <a:alpha val="75000"/>
            </a:srgbClr>
          </a:solidFill>
          <a:ln w="31750">
            <a:solidFill>
              <a:srgbClr val="6CB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58700" y="5623560"/>
            <a:ext cx="4846320" cy="9144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CB4F0"/>
                </a:solidFill>
                <a:latin typeface="Times New Roman"/>
              </a:rPr>
              <a:t>Gap 3: No trust or 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58700" y="6629400"/>
            <a:ext cx="4846320" cy="31089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FFFFFF"/>
                </a:solidFill>
                <a:latin typeface="Times New Roman"/>
              </a:rPr>
              <a:t>Plain replication does not check that a received update is genuine or untampered.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FFFFFF"/>
                </a:solidFill>
                <a:latin typeface="Times New Roman"/>
              </a:rPr>
              <a:t>A forged or modified update could be accepted by mistake.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Header (MCT / RGIT)" descr="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9541" y="0"/>
            <a:ext cx="9867900" cy="1447800"/>
          </a:xfrm>
          <a:prstGeom prst="rect">
            <a:avLst/>
          </a:prstGeom>
        </p:spPr>
      </p:pic>
      <p:pic>
        <p:nvPicPr>
          <p:cNvPr id="4" name="Logo ABIT" descr="logo_a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52400"/>
            <a:ext cx="1295400" cy="1295400"/>
          </a:xfrm>
          <a:prstGeom prst="rect">
            <a:avLst/>
          </a:prstGeom>
        </p:spPr>
      </p:pic>
      <p:pic>
        <p:nvPicPr>
          <p:cNvPr id="5" name="Logo Synergy" descr="logo_sy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84041" y="152400"/>
            <a:ext cx="1171575" cy="1295400"/>
          </a:xfrm>
          <a:prstGeom prst="rect">
            <a:avLst/>
          </a:prstGeom>
        </p:spPr>
      </p:pic>
      <p:sp>
        <p:nvSpPr>
          <p:cNvPr id="6" name="Slide Title"/>
          <p:cNvSpPr txBox="1"/>
          <p:nvPr/>
        </p:nvSpPr>
        <p:spPr>
          <a:xfrm>
            <a:off x="918971" y="1828800"/>
            <a:ext cx="10972800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0" i="0">
                <a:solidFill>
                  <a:srgbClr val="FFFFFF"/>
                </a:solidFill>
                <a:latin typeface="Times New Roman"/>
              </a:rPr>
              <a:t>Proposed Solution &amp; Key Features</a:t>
            </a:r>
          </a:p>
        </p:txBody>
      </p:sp>
      <p:sp>
        <p:nvSpPr>
          <p:cNvPr id="7" name="Key message"/>
          <p:cNvSpPr txBox="1"/>
          <p:nvPr/>
        </p:nvSpPr>
        <p:spPr>
          <a:xfrm>
            <a:off x="918971" y="2487168"/>
            <a:ext cx="1627632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D6DBE6"/>
                </a:solidFill>
                <a:latin typeface="Times New Roman"/>
              </a:rPr>
              <a:t>DisasterSync keeps every region writable during a network failure, then merges safely when it returns.</a:t>
            </a:r>
          </a:p>
        </p:txBody>
      </p:sp>
      <p:sp>
        <p:nvSpPr>
          <p:cNvPr id="8" name="Step 1"/>
          <p:cNvSpPr/>
          <p:nvPr/>
        </p:nvSpPr>
        <p:spPr>
          <a:xfrm>
            <a:off x="1028700" y="3200400"/>
            <a:ext cx="3749039" cy="3154680"/>
          </a:xfrm>
          <a:prstGeom prst="roundRect">
            <a:avLst>
              <a:gd name="adj" fmla="val 6000"/>
            </a:avLst>
          </a:prstGeom>
          <a:solidFill>
            <a:srgbClr val="141B30">
              <a:alpha val="75000"/>
            </a:srgbClr>
          </a:solidFill>
          <a:ln w="31750">
            <a:solidFill>
              <a:srgbClr val="F06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1580" y="3337560"/>
            <a:ext cx="640080" cy="640080"/>
          </a:xfrm>
          <a:prstGeom prst="ellipse">
            <a:avLst/>
          </a:prstGeom>
          <a:solidFill>
            <a:srgbClr val="F06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0B1020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43100" y="3337560"/>
            <a:ext cx="2743199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Network fails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5860" y="4114800"/>
            <a:ext cx="3474720" cy="21945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 i="0">
                <a:solidFill>
                  <a:srgbClr val="FFFFFF"/>
                </a:solidFill>
                <a:latin typeface="Times New Roman"/>
              </a:rPr>
              <a:t>Mumbai and Hyderabad lose contact, but both still accept reports locally.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2020" y="4297680"/>
            <a:ext cx="502920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 i="0">
                <a:solidFill>
                  <a:srgbClr val="45BBA0"/>
                </a:solidFill>
                <a:latin typeface="Times New Roman"/>
              </a:rPr>
              <a:t>▶</a:t>
            </a:r>
          </a:p>
        </p:txBody>
      </p:sp>
      <p:sp>
        <p:nvSpPr>
          <p:cNvPr id="13" name="Step 2"/>
          <p:cNvSpPr/>
          <p:nvPr/>
        </p:nvSpPr>
        <p:spPr>
          <a:xfrm>
            <a:off x="5189220" y="3200400"/>
            <a:ext cx="3749039" cy="3154680"/>
          </a:xfrm>
          <a:prstGeom prst="roundRect">
            <a:avLst>
              <a:gd name="adj" fmla="val 6000"/>
            </a:avLst>
          </a:prstGeom>
          <a:solidFill>
            <a:srgbClr val="141B30">
              <a:alpha val="75000"/>
            </a:srgbClr>
          </a:solidFill>
          <a:ln w="3175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72100" y="3337560"/>
            <a:ext cx="640080" cy="64008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0B1020"/>
                </a:solidFill>
                <a:latin typeface="Times New Roman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3620" y="3337560"/>
            <a:ext cx="2743199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Keep working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6380" y="4114800"/>
            <a:ext cx="3474720" cy="21945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 i="0">
                <a:solidFill>
                  <a:srgbClr val="FFFFFF"/>
                </a:solidFill>
                <a:latin typeface="Times New Roman"/>
              </a:rPr>
              <a:t>Each node saves every update in its own append-only log. Nothing waits for the other region.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2539" y="4297680"/>
            <a:ext cx="502920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 i="0">
                <a:solidFill>
                  <a:srgbClr val="45BBA0"/>
                </a:solidFill>
                <a:latin typeface="Times New Roman"/>
              </a:rPr>
              <a:t>▶</a:t>
            </a:r>
          </a:p>
        </p:txBody>
      </p:sp>
      <p:sp>
        <p:nvSpPr>
          <p:cNvPr id="18" name="Step 3"/>
          <p:cNvSpPr/>
          <p:nvPr/>
        </p:nvSpPr>
        <p:spPr>
          <a:xfrm>
            <a:off x="9349740" y="3200400"/>
            <a:ext cx="3749039" cy="3154680"/>
          </a:xfrm>
          <a:prstGeom prst="roundRect">
            <a:avLst>
              <a:gd name="adj" fmla="val 6000"/>
            </a:avLst>
          </a:prstGeom>
          <a:solidFill>
            <a:srgbClr val="141B30">
              <a:alpha val="75000"/>
            </a:srgbClr>
          </a:solidFill>
          <a:ln w="31750">
            <a:solidFill>
              <a:srgbClr val="6CB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32619" y="3337560"/>
            <a:ext cx="640080" cy="640080"/>
          </a:xfrm>
          <a:prstGeom prst="ellipse">
            <a:avLst/>
          </a:prstGeom>
          <a:solidFill>
            <a:srgbClr val="6CB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0B1020"/>
                </a:solidFill>
                <a:latin typeface="Times New Roman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64140" y="3337560"/>
            <a:ext cx="2743199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Link returns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6900" y="4114800"/>
            <a:ext cx="3474720" cy="21945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 i="0">
                <a:solidFill>
                  <a:srgbClr val="FFFFFF"/>
                </a:solidFill>
                <a:latin typeface="Times New Roman"/>
              </a:rPr>
              <a:t>Nodes compare what they hold and exchange only the missing updates, automatically.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53059" y="4297680"/>
            <a:ext cx="502920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 i="0">
                <a:solidFill>
                  <a:srgbClr val="45BBA0"/>
                </a:solidFill>
                <a:latin typeface="Times New Roman"/>
              </a:rPr>
              <a:t>▶</a:t>
            </a:r>
          </a:p>
        </p:txBody>
      </p:sp>
      <p:sp>
        <p:nvSpPr>
          <p:cNvPr id="23" name="Step 4"/>
          <p:cNvSpPr/>
          <p:nvPr/>
        </p:nvSpPr>
        <p:spPr>
          <a:xfrm>
            <a:off x="13510259" y="3200400"/>
            <a:ext cx="3749039" cy="3154680"/>
          </a:xfrm>
          <a:prstGeom prst="roundRect">
            <a:avLst>
              <a:gd name="adj" fmla="val 6000"/>
            </a:avLst>
          </a:prstGeom>
          <a:solidFill>
            <a:srgbClr val="141B30">
              <a:alpha val="75000"/>
            </a:srgbClr>
          </a:solidFill>
          <a:ln w="31750">
            <a:solidFill>
              <a:srgbClr val="6BD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93139" y="3337560"/>
            <a:ext cx="640080" cy="640080"/>
          </a:xfrm>
          <a:prstGeom prst="ellipse">
            <a:avLst/>
          </a:prstGeom>
          <a:solidFill>
            <a:srgbClr val="6BD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0B1020"/>
                </a:solidFill>
                <a:latin typeface="Times New Roman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24659" y="3337560"/>
            <a:ext cx="2743199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Conflicts handled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647419" y="4114800"/>
            <a:ext cx="3474720" cy="21945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 i="0">
                <a:solidFill>
                  <a:srgbClr val="FFFFFF"/>
                </a:solidFill>
                <a:latin typeface="Times New Roman"/>
              </a:rPr>
              <a:t>Safe rules merge automatically. If two edits truly clash, both are kept and shown to an operator.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1" y="6583680"/>
            <a:ext cx="7315200" cy="5029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45BBA0"/>
                </a:solidFill>
                <a:latin typeface="Times New Roman"/>
              </a:rPr>
              <a:t>Key features (implemented in the engine)</a:t>
            </a:r>
          </a:p>
        </p:txBody>
      </p:sp>
      <p:sp>
        <p:nvSpPr>
          <p:cNvPr id="28" name="Feature 1"/>
          <p:cNvSpPr/>
          <p:nvPr/>
        </p:nvSpPr>
        <p:spPr>
          <a:xfrm>
            <a:off x="1028700" y="717804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141B30">
              <a:alpha val="70000"/>
            </a:srgbClr>
          </a:solidFill>
          <a:ln w="19050">
            <a:solidFill>
              <a:srgbClr val="45BB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0140" y="7223759"/>
            <a:ext cx="4937759" cy="11430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45BBA0"/>
                </a:solidFill>
                <a:latin typeface="Times New Roman"/>
              </a:rPr>
              <a:t>✓ </a:t>
            </a:r>
            <a:r>
              <a:rPr sz="2200" b="1" i="0">
                <a:solidFill>
                  <a:srgbClr val="FFFFFF"/>
                </a:solidFill>
                <a:latin typeface="Times New Roman"/>
              </a:rPr>
              <a:t>Local writes always accepted</a:t>
            </a:r>
          </a:p>
          <a:p>
            <a:pPr algn="l">
              <a:spcAft>
                <a:spcPts val="200"/>
              </a:spcAft>
            </a:pPr>
            <a:r>
              <a:rPr sz="1900" b="0" i="0">
                <a:solidFill>
                  <a:srgbClr val="D6DBE6"/>
                </a:solidFill>
                <a:latin typeface="Times New Roman"/>
              </a:rPr>
              <a:t>A write returns right after saving locally.</a:t>
            </a:r>
          </a:p>
        </p:txBody>
      </p:sp>
      <p:sp>
        <p:nvSpPr>
          <p:cNvPr id="30" name="Feature 2"/>
          <p:cNvSpPr/>
          <p:nvPr/>
        </p:nvSpPr>
        <p:spPr>
          <a:xfrm>
            <a:off x="6675120" y="717804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141B30">
              <a:alpha val="70000"/>
            </a:srgbClr>
          </a:solidFill>
          <a:ln w="19050">
            <a:solidFill>
              <a:srgbClr val="45BB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59" y="7223759"/>
            <a:ext cx="4937759" cy="11430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45BBA0"/>
                </a:solidFill>
                <a:latin typeface="Times New Roman"/>
              </a:rPr>
              <a:t>✓ </a:t>
            </a:r>
            <a:r>
              <a:rPr sz="2200" b="1" i="0">
                <a:solidFill>
                  <a:srgbClr val="FFFFFF"/>
                </a:solidFill>
                <a:latin typeface="Times New Roman"/>
              </a:rPr>
              <a:t>Append-only event log</a:t>
            </a:r>
          </a:p>
          <a:p>
            <a:pPr algn="l">
              <a:spcAft>
                <a:spcPts val="200"/>
              </a:spcAft>
            </a:pPr>
            <a:r>
              <a:rPr sz="1900" b="0" i="0">
                <a:solidFill>
                  <a:srgbClr val="D6DBE6"/>
                </a:solidFill>
                <a:latin typeface="Times New Roman"/>
              </a:rPr>
              <a:t>Every change is an event; none are edited or deleted.</a:t>
            </a:r>
          </a:p>
        </p:txBody>
      </p:sp>
      <p:sp>
        <p:nvSpPr>
          <p:cNvPr id="32" name="Feature 3"/>
          <p:cNvSpPr/>
          <p:nvPr/>
        </p:nvSpPr>
        <p:spPr>
          <a:xfrm>
            <a:off x="12321540" y="717804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141B30">
              <a:alpha val="70000"/>
            </a:srgbClr>
          </a:solidFill>
          <a:ln w="19050">
            <a:solidFill>
              <a:srgbClr val="45BB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412980" y="7223759"/>
            <a:ext cx="4937759" cy="11430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45BBA0"/>
                </a:solidFill>
                <a:latin typeface="Times New Roman"/>
              </a:rPr>
              <a:t>✓ </a:t>
            </a:r>
            <a:r>
              <a:rPr sz="2200" b="1" i="0">
                <a:solidFill>
                  <a:srgbClr val="FFFFFF"/>
                </a:solidFill>
                <a:latin typeface="Times New Roman"/>
              </a:rPr>
              <a:t>Rule-based auto-merge</a:t>
            </a:r>
          </a:p>
          <a:p>
            <a:pPr algn="l">
              <a:spcAft>
                <a:spcPts val="200"/>
              </a:spcAft>
            </a:pPr>
            <a:r>
              <a:rPr sz="1900" b="0" i="0">
                <a:solidFill>
                  <a:srgbClr val="D6DBE6"/>
                </a:solidFill>
                <a:latin typeface="Times New Roman"/>
              </a:rPr>
              <a:t>Severity only escalates; status only moves forward.</a:t>
            </a:r>
          </a:p>
        </p:txBody>
      </p:sp>
      <p:sp>
        <p:nvSpPr>
          <p:cNvPr id="34" name="Feature 4"/>
          <p:cNvSpPr/>
          <p:nvPr/>
        </p:nvSpPr>
        <p:spPr>
          <a:xfrm>
            <a:off x="1028700" y="854964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141B30">
              <a:alpha val="70000"/>
            </a:srgbClr>
          </a:solidFill>
          <a:ln w="19050">
            <a:solidFill>
              <a:srgbClr val="45BB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20140" y="8595360"/>
            <a:ext cx="4937759" cy="11430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45BBA0"/>
                </a:solidFill>
                <a:latin typeface="Times New Roman"/>
              </a:rPr>
              <a:t>✓ </a:t>
            </a:r>
            <a:r>
              <a:rPr sz="2200" b="1" i="0">
                <a:solidFill>
                  <a:srgbClr val="FFFFFF"/>
                </a:solidFill>
                <a:latin typeface="Times New Roman"/>
              </a:rPr>
              <a:t>Conflict ledger</a:t>
            </a:r>
          </a:p>
          <a:p>
            <a:pPr algn="l">
              <a:spcAft>
                <a:spcPts val="200"/>
              </a:spcAft>
            </a:pPr>
            <a:r>
              <a:rPr sz="1900" b="0" i="0">
                <a:solidFill>
                  <a:srgbClr val="D6DBE6"/>
                </a:solidFill>
                <a:latin typeface="Times New Roman"/>
              </a:rPr>
              <a:t>Clashing text edits keep both versions for an operator.</a:t>
            </a:r>
          </a:p>
        </p:txBody>
      </p:sp>
      <p:sp>
        <p:nvSpPr>
          <p:cNvPr id="36" name="Feature 5"/>
          <p:cNvSpPr/>
          <p:nvPr/>
        </p:nvSpPr>
        <p:spPr>
          <a:xfrm>
            <a:off x="6675120" y="854964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141B30">
              <a:alpha val="70000"/>
            </a:srgbClr>
          </a:solidFill>
          <a:ln w="19050">
            <a:solidFill>
              <a:srgbClr val="45BB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59" y="8595360"/>
            <a:ext cx="4937759" cy="11430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45BBA0"/>
                </a:solidFill>
                <a:latin typeface="Times New Roman"/>
              </a:rPr>
              <a:t>✓ </a:t>
            </a:r>
            <a:r>
              <a:rPr sz="2200" b="1" i="0">
                <a:solidFill>
                  <a:srgbClr val="FFFFFF"/>
                </a:solidFill>
                <a:latin typeface="Times New Roman"/>
              </a:rPr>
              <a:t>Durability label per report</a:t>
            </a:r>
          </a:p>
          <a:p>
            <a:pPr algn="l">
              <a:spcAft>
                <a:spcPts val="200"/>
              </a:spcAft>
            </a:pPr>
            <a:r>
              <a:rPr sz="1900" b="0" i="0">
                <a:solidFill>
                  <a:srgbClr val="D6DBE6"/>
                </a:solidFill>
                <a:latin typeface="Times New Roman"/>
              </a:rPr>
              <a:t>Saved locally → Replicated → Confirmed everywhere.</a:t>
            </a:r>
          </a:p>
        </p:txBody>
      </p:sp>
      <p:sp>
        <p:nvSpPr>
          <p:cNvPr id="38" name="Feature 6"/>
          <p:cNvSpPr/>
          <p:nvPr/>
        </p:nvSpPr>
        <p:spPr>
          <a:xfrm>
            <a:off x="12321540" y="854964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141B30">
              <a:alpha val="70000"/>
            </a:srgbClr>
          </a:solidFill>
          <a:ln w="19050">
            <a:solidFill>
              <a:srgbClr val="45BB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412980" y="8595360"/>
            <a:ext cx="4937759" cy="11430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45BBA0"/>
                </a:solidFill>
                <a:latin typeface="Times New Roman"/>
              </a:rPr>
              <a:t>✓ </a:t>
            </a:r>
            <a:r>
              <a:rPr sz="2200" b="1" i="0">
                <a:solidFill>
                  <a:srgbClr val="FFFFFF"/>
                </a:solidFill>
                <a:latin typeface="Times New Roman"/>
              </a:rPr>
              <a:t>Built-in fault injection</a:t>
            </a:r>
          </a:p>
          <a:p>
            <a:pPr algn="l">
              <a:spcAft>
                <a:spcPts val="200"/>
              </a:spcAft>
            </a:pPr>
            <a:r>
              <a:rPr sz="1900" b="0" i="0">
                <a:solidFill>
                  <a:srgbClr val="D6DBE6"/>
                </a:solidFill>
                <a:latin typeface="Times New Roman"/>
              </a:rPr>
              <a:t>Cut a link, crash a node or skew its clock from the API.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Header (MCT / RGIT)" descr="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9541" y="0"/>
            <a:ext cx="9867900" cy="1447800"/>
          </a:xfrm>
          <a:prstGeom prst="rect">
            <a:avLst/>
          </a:prstGeom>
        </p:spPr>
      </p:pic>
      <p:pic>
        <p:nvPicPr>
          <p:cNvPr id="4" name="Logo ABIT" descr="logo_a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52400"/>
            <a:ext cx="1295400" cy="1295400"/>
          </a:xfrm>
          <a:prstGeom prst="rect">
            <a:avLst/>
          </a:prstGeom>
        </p:spPr>
      </p:pic>
      <p:pic>
        <p:nvPicPr>
          <p:cNvPr id="5" name="Logo Synergy" descr="logo_sy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84041" y="152400"/>
            <a:ext cx="1171575" cy="1295400"/>
          </a:xfrm>
          <a:prstGeom prst="rect">
            <a:avLst/>
          </a:prstGeom>
        </p:spPr>
      </p:pic>
      <p:sp>
        <p:nvSpPr>
          <p:cNvPr id="6" name="Slide Title"/>
          <p:cNvSpPr txBox="1"/>
          <p:nvPr/>
        </p:nvSpPr>
        <p:spPr>
          <a:xfrm>
            <a:off x="918971" y="1828800"/>
            <a:ext cx="10972800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0" i="0">
                <a:solidFill>
                  <a:srgbClr val="FFFFFF"/>
                </a:solidFill>
                <a:latin typeface="Times New Roman"/>
              </a:rPr>
              <a:t>Technical approach &amp; 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971" y="2487168"/>
            <a:ext cx="786384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45BBA0"/>
                </a:solidFill>
                <a:latin typeface="Times New Roman"/>
              </a:rPr>
              <a:t>Architecture: three peer nodes, no central server</a:t>
            </a:r>
          </a:p>
        </p:txBody>
      </p:sp>
      <p:sp>
        <p:nvSpPr>
          <p:cNvPr id="8" name="Node MUM"/>
          <p:cNvSpPr/>
          <p:nvPr/>
        </p:nvSpPr>
        <p:spPr>
          <a:xfrm>
            <a:off x="1028700" y="3108960"/>
            <a:ext cx="2286000" cy="777240"/>
          </a:xfrm>
          <a:prstGeom prst="roundRect">
            <a:avLst>
              <a:gd name="adj" fmla="val 6000"/>
            </a:avLst>
          </a:prstGeom>
          <a:solidFill>
            <a:srgbClr val="141B30">
              <a:alpha val="80000"/>
            </a:srgbClr>
          </a:solidFill>
          <a:ln w="31750">
            <a:solidFill>
              <a:srgbClr val="45BB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MUM</a:t>
            </a:r>
          </a:p>
        </p:txBody>
      </p:sp>
      <p:sp>
        <p:nvSpPr>
          <p:cNvPr id="9" name="Node HYD"/>
          <p:cNvSpPr/>
          <p:nvPr/>
        </p:nvSpPr>
        <p:spPr>
          <a:xfrm>
            <a:off x="3611880" y="3108960"/>
            <a:ext cx="2286000" cy="777240"/>
          </a:xfrm>
          <a:prstGeom prst="roundRect">
            <a:avLst>
              <a:gd name="adj" fmla="val 6000"/>
            </a:avLst>
          </a:prstGeom>
          <a:solidFill>
            <a:srgbClr val="141B30">
              <a:alpha val="80000"/>
            </a:srgbClr>
          </a:solidFill>
          <a:ln w="31750">
            <a:solidFill>
              <a:srgbClr val="45BB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HYD</a:t>
            </a:r>
          </a:p>
        </p:txBody>
      </p:sp>
      <p:sp>
        <p:nvSpPr>
          <p:cNvPr id="10" name="Node SIN"/>
          <p:cNvSpPr/>
          <p:nvPr/>
        </p:nvSpPr>
        <p:spPr>
          <a:xfrm>
            <a:off x="6195060" y="3108960"/>
            <a:ext cx="2286000" cy="777240"/>
          </a:xfrm>
          <a:prstGeom prst="roundRect">
            <a:avLst>
              <a:gd name="adj" fmla="val 6000"/>
            </a:avLst>
          </a:prstGeom>
          <a:solidFill>
            <a:srgbClr val="141B30">
              <a:alpha val="80000"/>
            </a:srgbClr>
          </a:solidFill>
          <a:ln w="31750">
            <a:solidFill>
              <a:srgbClr val="45BB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SIN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14700" y="3493008"/>
            <a:ext cx="297180" cy="0"/>
          </a:xfrm>
          <a:prstGeom prst="line">
            <a:avLst/>
          </a:prstGeom>
          <a:ln w="38100">
            <a:solidFill>
              <a:srgbClr val="45BBA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97880" y="3493008"/>
            <a:ext cx="297180" cy="0"/>
          </a:xfrm>
          <a:prstGeom prst="line">
            <a:avLst/>
          </a:prstGeom>
          <a:ln w="38100">
            <a:solidFill>
              <a:srgbClr val="45BBA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8971" y="3931920"/>
            <a:ext cx="786384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D6DBE6"/>
                </a:solidFill>
                <a:latin typeface="Times New Roman"/>
              </a:rPr>
              <a:t>Each pair syncs every 500 ms (pull what I am missing)</a:t>
            </a:r>
          </a:p>
        </p:txBody>
      </p:sp>
      <p:sp>
        <p:nvSpPr>
          <p:cNvPr id="14" name="Layer 1"/>
          <p:cNvSpPr/>
          <p:nvPr/>
        </p:nvSpPr>
        <p:spPr>
          <a:xfrm>
            <a:off x="1028700" y="4526280"/>
            <a:ext cx="7498079" cy="896112"/>
          </a:xfrm>
          <a:prstGeom prst="roundRect">
            <a:avLst>
              <a:gd name="adj" fmla="val 6000"/>
            </a:avLst>
          </a:prstGeom>
          <a:solidFill>
            <a:srgbClr val="141B30">
              <a:alpha val="75000"/>
            </a:srgbClr>
          </a:solidFill>
          <a:ln w="19050">
            <a:solidFill>
              <a:srgbClr val="6CB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0140" y="4544568"/>
            <a:ext cx="7315200" cy="8686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100"/>
              </a:spcAft>
            </a:pPr>
            <a:r>
              <a:rPr sz="2200" b="1" i="0">
                <a:solidFill>
                  <a:srgbClr val="6CB4F0"/>
                </a:solidFill>
                <a:latin typeface="Times New Roman"/>
              </a:rPr>
              <a:t>REST API</a:t>
            </a:r>
          </a:p>
          <a:p>
            <a:pPr algn="l">
              <a:spcAft>
                <a:spcPts val="100"/>
              </a:spcAft>
            </a:pPr>
            <a:r>
              <a:rPr sz="1900" b="0" i="0">
                <a:solidFill>
                  <a:srgbClr val="D6DBE6"/>
                </a:solidFill>
                <a:latin typeface="Times New Roman"/>
              </a:rPr>
              <a:t>FastAPI: reports, conflicts, status, admin</a:t>
            </a:r>
          </a:p>
        </p:txBody>
      </p:sp>
      <p:sp>
        <p:nvSpPr>
          <p:cNvPr id="16" name="Layer 2"/>
          <p:cNvSpPr/>
          <p:nvPr/>
        </p:nvSpPr>
        <p:spPr>
          <a:xfrm>
            <a:off x="1028700" y="5513832"/>
            <a:ext cx="7498079" cy="896112"/>
          </a:xfrm>
          <a:prstGeom prst="roundRect">
            <a:avLst>
              <a:gd name="adj" fmla="val 6000"/>
            </a:avLst>
          </a:prstGeom>
          <a:solidFill>
            <a:srgbClr val="141B30">
              <a:alpha val="75000"/>
            </a:srgbClr>
          </a:solidFill>
          <a:ln w="19050">
            <a:solidFill>
              <a:srgbClr val="6CB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0140" y="5532120"/>
            <a:ext cx="7315200" cy="8686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100"/>
              </a:spcAft>
            </a:pPr>
            <a:r>
              <a:rPr sz="2200" b="1" i="0">
                <a:solidFill>
                  <a:srgbClr val="6CB4F0"/>
                </a:solidFill>
                <a:latin typeface="Times New Roman"/>
              </a:rPr>
              <a:t>Merge engine</a:t>
            </a:r>
          </a:p>
          <a:p>
            <a:pPr algn="l">
              <a:spcAft>
                <a:spcPts val="100"/>
              </a:spcAft>
            </a:pPr>
            <a:r>
              <a:rPr sz="1900" b="0" i="0">
                <a:solidFill>
                  <a:srgbClr val="D6DBE6"/>
                </a:solidFill>
                <a:latin typeface="Times New Roman"/>
              </a:rPr>
              <a:t>Pure functions: events → report + conflicts</a:t>
            </a:r>
          </a:p>
        </p:txBody>
      </p:sp>
      <p:sp>
        <p:nvSpPr>
          <p:cNvPr id="18" name="Layer 3"/>
          <p:cNvSpPr/>
          <p:nvPr/>
        </p:nvSpPr>
        <p:spPr>
          <a:xfrm>
            <a:off x="1028700" y="6501384"/>
            <a:ext cx="7498079" cy="896112"/>
          </a:xfrm>
          <a:prstGeom prst="roundRect">
            <a:avLst>
              <a:gd name="adj" fmla="val 6000"/>
            </a:avLst>
          </a:prstGeom>
          <a:solidFill>
            <a:srgbClr val="141B30">
              <a:alpha val="75000"/>
            </a:srgbClr>
          </a:solidFill>
          <a:ln w="19050">
            <a:solidFill>
              <a:srgbClr val="6CB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0140" y="6519672"/>
            <a:ext cx="7315200" cy="8686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100"/>
              </a:spcAft>
            </a:pPr>
            <a:r>
              <a:rPr sz="2200" b="1" i="0">
                <a:solidFill>
                  <a:srgbClr val="6CB4F0"/>
                </a:solidFill>
                <a:latin typeface="Times New Roman"/>
              </a:rPr>
              <a:t>Event log</a:t>
            </a:r>
          </a:p>
          <a:p>
            <a:pPr algn="l">
              <a:spcAft>
                <a:spcPts val="100"/>
              </a:spcAft>
            </a:pPr>
            <a:r>
              <a:rPr sz="1900" b="0" i="0">
                <a:solidFill>
                  <a:srgbClr val="D6DBE6"/>
                </a:solidFill>
                <a:latin typeface="Times New Roman"/>
              </a:rPr>
              <a:t>SQLite, append-only, survives restarts</a:t>
            </a:r>
          </a:p>
        </p:txBody>
      </p:sp>
      <p:sp>
        <p:nvSpPr>
          <p:cNvPr id="20" name="Layer 4"/>
          <p:cNvSpPr/>
          <p:nvPr/>
        </p:nvSpPr>
        <p:spPr>
          <a:xfrm>
            <a:off x="1028700" y="7488936"/>
            <a:ext cx="7498079" cy="896112"/>
          </a:xfrm>
          <a:prstGeom prst="roundRect">
            <a:avLst>
              <a:gd name="adj" fmla="val 6000"/>
            </a:avLst>
          </a:prstGeom>
          <a:solidFill>
            <a:srgbClr val="141B30">
              <a:alpha val="75000"/>
            </a:srgbClr>
          </a:solidFill>
          <a:ln w="19050">
            <a:solidFill>
              <a:srgbClr val="6CB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0140" y="7507224"/>
            <a:ext cx="7315200" cy="8686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100"/>
              </a:spcAft>
            </a:pPr>
            <a:r>
              <a:rPr sz="2200" b="1" i="0">
                <a:solidFill>
                  <a:srgbClr val="6CB4F0"/>
                </a:solidFill>
                <a:latin typeface="Times New Roman"/>
              </a:rPr>
              <a:t>Sync manager</a:t>
            </a:r>
          </a:p>
          <a:p>
            <a:pPr algn="l">
              <a:spcAft>
                <a:spcPts val="100"/>
              </a:spcAft>
            </a:pPr>
            <a:r>
              <a:rPr sz="1900" b="0" i="0">
                <a:solidFill>
                  <a:srgbClr val="D6DBE6"/>
                </a:solidFill>
                <a:latin typeface="Times New Roman"/>
              </a:rPr>
              <a:t>HTTP pull with version vectors, epochs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2487168"/>
            <a:ext cx="820674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45BBA0"/>
                </a:solidFill>
                <a:latin typeface="Times New Roman"/>
              </a:rPr>
              <a:t>Merge rules for edits made at the same time</a:t>
            </a:r>
          </a:p>
        </p:txBody>
      </p:sp>
      <p:graphicFrame>
        <p:nvGraphicFramePr>
          <p:cNvPr id="23" name="Merge rules table"/>
          <p:cNvGraphicFramePr>
            <a:graphicFrameLocks noGrp="1"/>
          </p:cNvGraphicFramePr>
          <p:nvPr/>
        </p:nvGraphicFramePr>
        <p:xfrm>
          <a:off x="9052560" y="3017520"/>
          <a:ext cx="8206740" cy="34015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4640"/>
                <a:gridCol w="537210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0B1020"/>
                          </a:solidFill>
                          <a:latin typeface="Times New Roman"/>
                        </a:rPr>
                        <a:t>Field</a:t>
                      </a:r>
                    </a:p>
                  </a:txBody>
                  <a:tcPr anchor="ctr" marL="137160">
                    <a:solidFill>
                      <a:srgbClr val="45BB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0B1020"/>
                          </a:solidFill>
                          <a:latin typeface="Times New Roman"/>
                        </a:rPr>
                        <a:t>Rule</a:t>
                      </a:r>
                    </a:p>
                  </a:txBody>
                  <a:tcPr anchor="ctr" marL="137160">
                    <a:solidFill>
                      <a:srgbClr val="45BBA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</a:rPr>
                        <a:t>Severity</a:t>
                      </a:r>
                    </a:p>
                  </a:txBody>
                  <a:tcPr anchor="ctr" marL="137160">
                    <a:solidFill>
                      <a:srgbClr val="141B30">
                        <a:alpha val="78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Times New Roman"/>
                        </a:rPr>
                        <a:t>Highest value wins (escalate only)</a:t>
                      </a:r>
                    </a:p>
                  </a:txBody>
                  <a:tcPr anchor="ctr" marL="137160">
                    <a:solidFill>
                      <a:srgbClr val="141B30">
                        <a:alpha val="78000"/>
                      </a:srgbClr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anchor="ctr" marL="137160">
                    <a:solidFill>
                      <a:srgbClr val="141B30">
                        <a:alpha val="78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Times New Roman"/>
                        </a:rPr>
                        <a:t>Most advanced wins (never backwards)</a:t>
                      </a:r>
                    </a:p>
                  </a:txBody>
                  <a:tcPr anchor="ctr" marL="137160">
                    <a:solidFill>
                      <a:srgbClr val="141B30">
                        <a:alpha val="78000"/>
                      </a:srgbClr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</a:rPr>
                        <a:t>Location</a:t>
                      </a:r>
                    </a:p>
                  </a:txBody>
                  <a:tcPr anchor="ctr" marL="137160">
                    <a:solidFill>
                      <a:srgbClr val="141B30">
                        <a:alpha val="78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Times New Roman"/>
                        </a:rPr>
                        <a:t>Latest wins; flag if &gt; 500 m apart</a:t>
                      </a:r>
                    </a:p>
                  </a:txBody>
                  <a:tcPr anchor="ctr" marL="137160">
                    <a:solidFill>
                      <a:srgbClr val="141B30">
                        <a:alpha val="78000"/>
                      </a:srgbClr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</a:rPr>
                        <a:t>Description</a:t>
                      </a:r>
                    </a:p>
                  </a:txBody>
                  <a:tcPr anchor="ctr" marL="137160">
                    <a:solidFill>
                      <a:srgbClr val="141B30">
                        <a:alpha val="78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Times New Roman"/>
                        </a:rPr>
                        <a:t>Keep both, operator chooses</a:t>
                      </a:r>
                    </a:p>
                  </a:txBody>
                  <a:tcPr anchor="ctr" marL="137160">
                    <a:solidFill>
                      <a:srgbClr val="141B30">
                        <a:alpha val="78000"/>
                      </a:srgbClr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</a:rPr>
                        <a:t>Lowering / reopening</a:t>
                      </a:r>
                    </a:p>
                  </a:txBody>
                  <a:tcPr anchor="ctr" marL="137160">
                    <a:solidFill>
                      <a:srgbClr val="141B30">
                        <a:alpha val="78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Times New Roman"/>
                        </a:rPr>
                        <a:t>Needs an operator decision</a:t>
                      </a:r>
                    </a:p>
                  </a:txBody>
                  <a:tcPr anchor="ctr" marL="137160">
                    <a:solidFill>
                      <a:srgbClr val="141B30">
                        <a:alpha val="78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4" name="Innovation box"/>
          <p:cNvSpPr/>
          <p:nvPr/>
        </p:nvSpPr>
        <p:spPr>
          <a:xfrm>
            <a:off x="9052560" y="6583680"/>
            <a:ext cx="8206740" cy="2331720"/>
          </a:xfrm>
          <a:prstGeom prst="roundRect">
            <a:avLst>
              <a:gd name="adj" fmla="val 6000"/>
            </a:avLst>
          </a:prstGeom>
          <a:solidFill>
            <a:srgbClr val="141B30">
              <a:alpha val="80000"/>
            </a:srgbClr>
          </a:solidFill>
          <a:ln w="3175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6629400"/>
            <a:ext cx="8023860" cy="5029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2C14E"/>
                </a:solidFill>
                <a:latin typeface="Times New Roman"/>
              </a:rPr>
              <a:t>Innovation / USP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7132320"/>
            <a:ext cx="8023860" cy="17373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marL="347472" indent="-347472">
              <a:spcAft>
                <a:spcPts val="300"/>
              </a:spcAft>
              <a:buChar char="•"/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Nothing silently dropped: </a:t>
            </a:r>
            <a:r>
              <a:rPr sz="2000" b="0">
                <a:solidFill>
                  <a:srgbClr val="FFFFFF"/>
                </a:solidFill>
                <a:latin typeface="Times New Roman"/>
              </a:rPr>
              <a:t>both versions of a clash are kept</a:t>
            </a:r>
          </a:p>
          <a:p>
            <a:pPr marL="347472" indent="-347472">
              <a:spcAft>
                <a:spcPts val="300"/>
              </a:spcAft>
              <a:buChar char="•"/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Causality, not clocks: </a:t>
            </a:r>
            <a:r>
              <a:rPr sz="2000" b="0">
                <a:solidFill>
                  <a:srgbClr val="FFFFFF"/>
                </a:solidFill>
                <a:latin typeface="Times New Roman"/>
              </a:rPr>
              <a:t>version vectors + hybrid clock, so a wrong clock cannot overwrite a newer edit</a:t>
            </a:r>
          </a:p>
          <a:p>
            <a:pPr marL="347472" indent="-347472">
              <a:spcAft>
                <a:spcPts val="300"/>
              </a:spcAft>
              <a:buChar char="•"/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Honest status: </a:t>
            </a:r>
            <a:r>
              <a:rPr sz="2000" b="0">
                <a:solidFill>
                  <a:srgbClr val="FFFFFF"/>
                </a:solidFill>
                <a:latin typeface="Times New Roman"/>
              </a:rPr>
              <a:t>every report shows how safe it is</a:t>
            </a:r>
          </a:p>
        </p:txBody>
      </p:sp>
      <p:sp>
        <p:nvSpPr>
          <p:cNvPr id="27" name="Tech stack"/>
          <p:cNvSpPr/>
          <p:nvPr/>
        </p:nvSpPr>
        <p:spPr>
          <a:xfrm>
            <a:off x="1028700" y="9098280"/>
            <a:ext cx="16230600" cy="777240"/>
          </a:xfrm>
          <a:prstGeom prst="roundRect">
            <a:avLst>
              <a:gd name="adj" fmla="val 6000"/>
            </a:avLst>
          </a:prstGeom>
          <a:solidFill>
            <a:srgbClr val="141B30">
              <a:alpha val="80000"/>
            </a:srgbClr>
          </a:solidFill>
          <a:ln w="15240">
            <a:solidFill>
              <a:srgbClr val="D6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0140" y="9116568"/>
            <a:ext cx="16002000" cy="73152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45BBA0"/>
                </a:solidFill>
                <a:latin typeface="Times New Roman"/>
              </a:rPr>
              <a:t>Tech stack: </a:t>
            </a:r>
            <a:r>
              <a:rPr sz="2200" b="0" i="0">
                <a:solidFill>
                  <a:srgbClr val="FFFFFF"/>
                </a:solidFill>
                <a:latin typeface="Times New Roman"/>
              </a:rPr>
              <a:t>Python 3.13 · FastAPI · SQLite · httpx · Docker · AWS EC2 (boto3 deploy script) · pytest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Header (MCT / RGIT)" descr="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9541" y="0"/>
            <a:ext cx="9867900" cy="1447800"/>
          </a:xfrm>
          <a:prstGeom prst="rect">
            <a:avLst/>
          </a:prstGeom>
        </p:spPr>
      </p:pic>
      <p:pic>
        <p:nvPicPr>
          <p:cNvPr id="4" name="Logo ABIT" descr="logo_a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52400"/>
            <a:ext cx="1295400" cy="1295400"/>
          </a:xfrm>
          <a:prstGeom prst="rect">
            <a:avLst/>
          </a:prstGeom>
        </p:spPr>
      </p:pic>
      <p:pic>
        <p:nvPicPr>
          <p:cNvPr id="5" name="Logo Synergy" descr="logo_sy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84041" y="152400"/>
            <a:ext cx="1171575" cy="1295400"/>
          </a:xfrm>
          <a:prstGeom prst="rect">
            <a:avLst/>
          </a:prstGeom>
        </p:spPr>
      </p:pic>
      <p:sp>
        <p:nvSpPr>
          <p:cNvPr id="6" name="Slide Title"/>
          <p:cNvSpPr txBox="1"/>
          <p:nvPr/>
        </p:nvSpPr>
        <p:spPr>
          <a:xfrm>
            <a:off x="918971" y="1828800"/>
            <a:ext cx="10972800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0" i="0">
                <a:solidFill>
                  <a:srgbClr val="FFFFFF"/>
                </a:solidFill>
                <a:latin typeface="Times New Roman"/>
              </a:rPr>
              <a:t>Impact &amp; Future Scope</a:t>
            </a:r>
          </a:p>
        </p:txBody>
      </p:sp>
      <p:sp>
        <p:nvSpPr>
          <p:cNvPr id="7" name="Impact panel"/>
          <p:cNvSpPr/>
          <p:nvPr/>
        </p:nvSpPr>
        <p:spPr>
          <a:xfrm>
            <a:off x="1028700" y="2606040"/>
            <a:ext cx="7863840" cy="4206240"/>
          </a:xfrm>
          <a:prstGeom prst="roundRect">
            <a:avLst>
              <a:gd name="adj" fmla="val 6000"/>
            </a:avLst>
          </a:prstGeom>
          <a:solidFill>
            <a:srgbClr val="141B30">
              <a:alpha val="75000"/>
            </a:srgbClr>
          </a:solidFill>
          <a:ln w="31750">
            <a:solidFill>
              <a:srgbClr val="6BD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" y="2697480"/>
            <a:ext cx="768096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6BD98F"/>
                </a:solidFill>
                <a:latin typeface="Times New Roman"/>
              </a:rPr>
              <a:t>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" y="3291840"/>
            <a:ext cx="7680960" cy="40233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marL="347472" indent="-347472">
              <a:spcAft>
                <a:spcPts val="800"/>
              </a:spcAft>
              <a:buChar char="•"/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Target users: </a:t>
            </a:r>
            <a:r>
              <a:rPr sz="2200" b="0">
                <a:solidFill>
                  <a:srgbClr val="FFFFFF"/>
                </a:solidFill>
                <a:latin typeface="Times New Roman"/>
              </a:rPr>
              <a:t>emergency control-room operators, field reporters, teams building resilient reporting apps</a:t>
            </a:r>
          </a:p>
          <a:p>
            <a:pPr marL="347472" indent="-347472">
              <a:spcAft>
                <a:spcPts val="800"/>
              </a:spcAft>
              <a:buChar char="•"/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Reports are not lost </a:t>
            </a:r>
            <a:r>
              <a:rPr sz="2200" b="0">
                <a:solidFill>
                  <a:srgbClr val="FFFFFF"/>
                </a:solidFill>
                <a:latin typeface="Times New Roman"/>
              </a:rPr>
              <a:t>when regions are cut off</a:t>
            </a:r>
          </a:p>
          <a:p>
            <a:pPr marL="347472" indent="-347472">
              <a:spcAft>
                <a:spcPts val="800"/>
              </a:spcAft>
              <a:buChar char="•"/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Operators see every clash </a:t>
            </a:r>
            <a:r>
              <a:rPr sz="2200" b="0">
                <a:solidFill>
                  <a:srgbClr val="FFFFFF"/>
                </a:solidFill>
                <a:latin typeface="Times New Roman"/>
              </a:rPr>
              <a:t>instead of a silent overwrite</a:t>
            </a:r>
          </a:p>
          <a:p>
            <a:pPr marL="347472" indent="-347472">
              <a:spcAft>
                <a:spcPts val="800"/>
              </a:spcAft>
              <a:buChar char="•"/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Not tied to one cloud: </a:t>
            </a:r>
            <a:r>
              <a:rPr sz="2200" b="0">
                <a:solidFill>
                  <a:srgbClr val="FFFFFF"/>
                </a:solidFill>
                <a:latin typeface="Times New Roman"/>
              </a:rPr>
              <a:t>plain Docker nodes talking over HTTP</a:t>
            </a:r>
          </a:p>
        </p:txBody>
      </p:sp>
      <p:sp>
        <p:nvSpPr>
          <p:cNvPr id="10" name="Future panel"/>
          <p:cNvSpPr/>
          <p:nvPr/>
        </p:nvSpPr>
        <p:spPr>
          <a:xfrm>
            <a:off x="9395460" y="2606040"/>
            <a:ext cx="7863840" cy="4206240"/>
          </a:xfrm>
          <a:prstGeom prst="roundRect">
            <a:avLst>
              <a:gd name="adj" fmla="val 6000"/>
            </a:avLst>
          </a:prstGeom>
          <a:solidFill>
            <a:srgbClr val="141B30">
              <a:alpha val="75000"/>
            </a:srgbClr>
          </a:solidFill>
          <a:ln w="31750">
            <a:solidFill>
              <a:srgbClr val="6CB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86900" y="2697480"/>
            <a:ext cx="768096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6CB4F0"/>
                </a:solidFill>
                <a:latin typeface="Times New Roman"/>
              </a:rPr>
              <a:t>Future scope (proposed)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86900" y="3291840"/>
            <a:ext cx="7680960" cy="40233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marL="347472" indent="-347472">
              <a:spcAft>
                <a:spcPts val="800"/>
              </a:spcAft>
              <a:buChar char="•"/>
            </a:pPr>
            <a:r>
              <a:rPr sz="2200" b="0">
                <a:solidFill>
                  <a:srgbClr val="FFFFFF"/>
                </a:solidFill>
                <a:latin typeface="Times New Roman"/>
              </a:rPr>
              <a:t>Digital signatures on updates and replay protection</a:t>
            </a:r>
          </a:p>
          <a:p>
            <a:pPr marL="347472" indent="-347472">
              <a:spcAft>
                <a:spcPts val="800"/>
              </a:spcAft>
              <a:buChar char="•"/>
            </a:pPr>
            <a:r>
              <a:rPr sz="2200" b="0">
                <a:solidFill>
                  <a:srgbClr val="FFFFFF"/>
                </a:solidFill>
                <a:latin typeface="Times New Roman"/>
              </a:rPr>
              <a:t>TLS between nodes (today: shared admin token over HTTP)</a:t>
            </a:r>
          </a:p>
          <a:p>
            <a:pPr marL="347472" indent="-347472">
              <a:spcAft>
                <a:spcPts val="800"/>
              </a:spcAft>
              <a:buChar char="•"/>
            </a:pPr>
            <a:r>
              <a:rPr sz="2200" b="0">
                <a:solidFill>
                  <a:srgbClr val="FFFFFF"/>
                </a:solidFill>
                <a:latin typeface="Times New Roman"/>
              </a:rPr>
              <a:t>Join mode and live peer changes, to move a region between clouds</a:t>
            </a:r>
          </a:p>
          <a:p>
            <a:pPr marL="347472" indent="-347472">
              <a:spcAft>
                <a:spcPts val="800"/>
              </a:spcAft>
              <a:buChar char="•"/>
            </a:pPr>
            <a:r>
              <a:rPr sz="2200" b="0">
                <a:solidFill>
                  <a:srgbClr val="FFFFFF"/>
                </a:solidFill>
                <a:latin typeface="Times New Roman"/>
              </a:rPr>
              <a:t>Live updates (server-sent events) for the dashboard</a:t>
            </a:r>
          </a:p>
          <a:p>
            <a:pPr marL="347472" indent="-347472">
              <a:spcAft>
                <a:spcPts val="800"/>
              </a:spcAft>
              <a:buChar char="•"/>
            </a:pPr>
            <a:r>
              <a:rPr sz="2200" b="0">
                <a:solidFill>
                  <a:srgbClr val="FFFFFF"/>
                </a:solidFill>
                <a:latin typeface="Times New Roman"/>
              </a:rPr>
              <a:t>AI-based prioritisation of incoming reports</a:t>
            </a:r>
          </a:p>
        </p:txBody>
      </p:sp>
      <p:sp>
        <p:nvSpPr>
          <p:cNvPr id="13" name="Evaluation panel"/>
          <p:cNvSpPr/>
          <p:nvPr/>
        </p:nvSpPr>
        <p:spPr>
          <a:xfrm>
            <a:off x="1028700" y="7178040"/>
            <a:ext cx="16230600" cy="2194560"/>
          </a:xfrm>
          <a:prstGeom prst="roundRect">
            <a:avLst>
              <a:gd name="adj" fmla="val 6000"/>
            </a:avLst>
          </a:prstGeom>
          <a:solidFill>
            <a:srgbClr val="141B30">
              <a:alpha val="75000"/>
            </a:srgbClr>
          </a:solidFill>
          <a:ln w="3175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0140" y="7242048"/>
            <a:ext cx="16002000" cy="5029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2C14E"/>
                </a:solidFill>
                <a:latin typeface="Times New Roman"/>
              </a:rPr>
              <a:t>Evaluation plan vs Last-Writer-Wins baseline </a:t>
            </a:r>
            <a:r>
              <a:rPr sz="2000" b="0" i="0">
                <a:solidFill>
                  <a:srgbClr val="D6DBE6"/>
                </a:solidFill>
                <a:latin typeface="Times New Roman"/>
              </a:rPr>
              <a:t>(measured by a chaos tester; no results claimed yet)</a:t>
            </a:r>
          </a:p>
        </p:txBody>
      </p:sp>
      <p:sp>
        <p:nvSpPr>
          <p:cNvPr id="15" name="Metric 1"/>
          <p:cNvSpPr/>
          <p:nvPr/>
        </p:nvSpPr>
        <p:spPr>
          <a:xfrm>
            <a:off x="1120140" y="8046720"/>
            <a:ext cx="3703320" cy="10515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D6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2100" b="0" i="0">
                <a:solidFill>
                  <a:srgbClr val="FFFFFF"/>
                </a:solidFill>
                <a:latin typeface="Times New Roman"/>
              </a:rPr>
              <a:t>Nodes converged (%)</a:t>
            </a:r>
          </a:p>
        </p:txBody>
      </p:sp>
      <p:sp>
        <p:nvSpPr>
          <p:cNvPr id="16" name="Metric 2"/>
          <p:cNvSpPr/>
          <p:nvPr/>
        </p:nvSpPr>
        <p:spPr>
          <a:xfrm>
            <a:off x="5257800" y="8046720"/>
            <a:ext cx="3703320" cy="10515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D6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2100" b="0" i="0">
                <a:solidFill>
                  <a:srgbClr val="FFFFFF"/>
                </a:solidFill>
                <a:latin typeface="Times New Roman"/>
              </a:rPr>
              <a:t>Acknowledged writes lost (%)</a:t>
            </a:r>
          </a:p>
        </p:txBody>
      </p:sp>
      <p:sp>
        <p:nvSpPr>
          <p:cNvPr id="17" name="Metric 3"/>
          <p:cNvSpPr/>
          <p:nvPr/>
        </p:nvSpPr>
        <p:spPr>
          <a:xfrm>
            <a:off x="9395459" y="8046720"/>
            <a:ext cx="3703320" cy="10515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D6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2100" b="0" i="0">
                <a:solidFill>
                  <a:srgbClr val="FFFFFF"/>
                </a:solidFill>
                <a:latin typeface="Times New Roman"/>
              </a:rPr>
              <a:t>Silent overwrites (%)</a:t>
            </a:r>
          </a:p>
        </p:txBody>
      </p:sp>
      <p:sp>
        <p:nvSpPr>
          <p:cNvPr id="18" name="Metric 4"/>
          <p:cNvSpPr/>
          <p:nvPr/>
        </p:nvSpPr>
        <p:spPr>
          <a:xfrm>
            <a:off x="13533119" y="8046720"/>
            <a:ext cx="3703320" cy="10515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D6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2100" b="0" i="0">
                <a:solidFill>
                  <a:srgbClr val="FFFFFF"/>
                </a:solidFill>
                <a:latin typeface="Times New Roman"/>
              </a:rPr>
              <a:t>Convergence time p50 / p95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Header (MCT / RGIT)" descr="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9541" y="0"/>
            <a:ext cx="9867900" cy="1447800"/>
          </a:xfrm>
          <a:prstGeom prst="rect">
            <a:avLst/>
          </a:prstGeom>
        </p:spPr>
      </p:pic>
      <p:pic>
        <p:nvPicPr>
          <p:cNvPr id="4" name="Logo ABIT" descr="logo_a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52400"/>
            <a:ext cx="1295400" cy="1295400"/>
          </a:xfrm>
          <a:prstGeom prst="rect">
            <a:avLst/>
          </a:prstGeom>
        </p:spPr>
      </p:pic>
      <p:pic>
        <p:nvPicPr>
          <p:cNvPr id="5" name="Logo Synergy" descr="logo_sy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84041" y="152400"/>
            <a:ext cx="1171575" cy="1295400"/>
          </a:xfrm>
          <a:prstGeom prst="rect">
            <a:avLst/>
          </a:prstGeom>
        </p:spPr>
      </p:pic>
      <p:sp>
        <p:nvSpPr>
          <p:cNvPr id="6" name="Slide Title"/>
          <p:cNvSpPr txBox="1"/>
          <p:nvPr/>
        </p:nvSpPr>
        <p:spPr>
          <a:xfrm>
            <a:off x="918971" y="1828800"/>
            <a:ext cx="10972800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0" i="0">
                <a:solidFill>
                  <a:srgbClr val="FFFFFF"/>
                </a:solidFill>
                <a:latin typeface="Times New Roman"/>
              </a:rPr>
              <a:t>Supporting Information: status and demo flow</a:t>
            </a:r>
          </a:p>
        </p:txBody>
      </p:sp>
      <p:graphicFrame>
        <p:nvGraphicFramePr>
          <p:cNvPr id="7" name="Status table"/>
          <p:cNvGraphicFramePr>
            <a:graphicFrameLocks noGrp="1"/>
          </p:cNvGraphicFramePr>
          <p:nvPr/>
        </p:nvGraphicFramePr>
        <p:xfrm>
          <a:off x="1028700" y="2606040"/>
          <a:ext cx="9692639" cy="6583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89520"/>
                <a:gridCol w="2103119"/>
              </a:tblGrid>
              <a:tr h="73152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B1020"/>
                          </a:solidFill>
                          <a:latin typeface="Times New Roman"/>
                        </a:rPr>
                        <a:t>Component</a:t>
                      </a:r>
                    </a:p>
                  </a:txBody>
                  <a:tcPr anchor="ctr" marL="137160">
                    <a:solidFill>
                      <a:srgbClr val="45BB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B1020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anchor="ctr" marL="137160">
                    <a:solidFill>
                      <a:srgbClr val="45BBA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Times New Roman"/>
                        </a:rPr>
                        <a:t>Sync engine: 3 nodes, merge rules, conflict ledger, durability</a:t>
                      </a:r>
                    </a:p>
                  </a:txBody>
                  <a:tcPr anchor="ctr" marL="137160">
                    <a:solidFill>
                      <a:srgbClr val="141B30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6BD98F"/>
                          </a:solidFill>
                          <a:latin typeface="Times New Roman"/>
                        </a:rPr>
                        <a:t>Implemented</a:t>
                      </a:r>
                    </a:p>
                  </a:txBody>
                  <a:tcPr anchor="ctr" marL="137160">
                    <a:solidFill>
                      <a:srgbClr val="141B30">
                        <a:alpha val="78000"/>
                      </a:srgbClr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Times New Roman"/>
                        </a:rPr>
                        <a:t>Fault injection API: cut link, crash, clock skew, reset</a:t>
                      </a:r>
                    </a:p>
                  </a:txBody>
                  <a:tcPr anchor="ctr" marL="137160">
                    <a:solidFill>
                      <a:srgbClr val="141B30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6BD98F"/>
                          </a:solidFill>
                          <a:latin typeface="Times New Roman"/>
                        </a:rPr>
                        <a:t>Implemented</a:t>
                      </a:r>
                    </a:p>
                  </a:txBody>
                  <a:tcPr anchor="ctr" marL="137160">
                    <a:solidFill>
                      <a:srgbClr val="141B30">
                        <a:alpha val="78000"/>
                      </a:srgbClr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Times New Roman"/>
                        </a:rPr>
                        <a:t>Automated tests: unit, multi-node, randomised fault runs</a:t>
                      </a:r>
                    </a:p>
                  </a:txBody>
                  <a:tcPr anchor="ctr" marL="137160">
                    <a:solidFill>
                      <a:srgbClr val="141B30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6BD98F"/>
                          </a:solidFill>
                          <a:latin typeface="Times New Roman"/>
                        </a:rPr>
                        <a:t>Implemented</a:t>
                      </a:r>
                    </a:p>
                  </a:txBody>
                  <a:tcPr anchor="ctr" marL="137160">
                    <a:solidFill>
                      <a:srgbClr val="141B30">
                        <a:alpha val="78000"/>
                      </a:srgbClr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Times New Roman"/>
                        </a:rPr>
                        <a:t>Docker 3-node cluster and AWS EC2 deploy script</a:t>
                      </a:r>
                    </a:p>
                  </a:txBody>
                  <a:tcPr anchor="ctr" marL="137160">
                    <a:solidFill>
                      <a:srgbClr val="141B30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6BD98F"/>
                          </a:solidFill>
                          <a:latin typeface="Times New Roman"/>
                        </a:rPr>
                        <a:t>Implemented</a:t>
                      </a:r>
                    </a:p>
                  </a:txBody>
                  <a:tcPr anchor="ctr" marL="137160">
                    <a:solidFill>
                      <a:srgbClr val="141B30">
                        <a:alpha val="78000"/>
                      </a:srgbClr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Times New Roman"/>
                        </a:rPr>
                        <a:t>Admin token on sensitive endpoints</a:t>
                      </a:r>
                    </a:p>
                  </a:txBody>
                  <a:tcPr anchor="ctr" marL="137160">
                    <a:solidFill>
                      <a:srgbClr val="141B30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6BD98F"/>
                          </a:solidFill>
                          <a:latin typeface="Times New Roman"/>
                        </a:rPr>
                        <a:t>Implemented</a:t>
                      </a:r>
                    </a:p>
                  </a:txBody>
                  <a:tcPr anchor="ctr" marL="137160">
                    <a:solidFill>
                      <a:srgbClr val="141B30">
                        <a:alpha val="78000"/>
                      </a:srgbClr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Times New Roman"/>
                        </a:rPr>
                        <a:t>Last-Writer-Wins baseline and chaos tester</a:t>
                      </a:r>
                    </a:p>
                  </a:txBody>
                  <a:tcPr anchor="ctr" marL="137160">
                    <a:solidFill>
                      <a:srgbClr val="141B30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2C14E"/>
                          </a:solidFill>
                          <a:latin typeface="Times New Roman"/>
                        </a:rPr>
                        <a:t>Planned</a:t>
                      </a:r>
                    </a:p>
                  </a:txBody>
                  <a:tcPr anchor="ctr" marL="137160">
                    <a:solidFill>
                      <a:srgbClr val="141B30">
                        <a:alpha val="78000"/>
                      </a:srgbClr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Times New Roman"/>
                        </a:rPr>
                        <a:t>Operations dashboard</a:t>
                      </a:r>
                    </a:p>
                  </a:txBody>
                  <a:tcPr anchor="ctr" marL="137160">
                    <a:solidFill>
                      <a:srgbClr val="141B30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2C14E"/>
                          </a:solidFill>
                          <a:latin typeface="Times New Roman"/>
                        </a:rPr>
                        <a:t>Planned</a:t>
                      </a:r>
                    </a:p>
                  </a:txBody>
                  <a:tcPr anchor="ctr" marL="137160">
                    <a:solidFill>
                      <a:srgbClr val="141B30">
                        <a:alpha val="78000"/>
                      </a:srgbClr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Times New Roman"/>
                        </a:rPr>
                        <a:t>Signatures, replay protection, TLS</a:t>
                      </a:r>
                    </a:p>
                  </a:txBody>
                  <a:tcPr anchor="ctr" marL="137160">
                    <a:solidFill>
                      <a:srgbClr val="141B30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6CB4F0"/>
                          </a:solidFill>
                          <a:latin typeface="Times New Roman"/>
                        </a:rPr>
                        <a:t>Proposed</a:t>
                      </a:r>
                    </a:p>
                  </a:txBody>
                  <a:tcPr anchor="ctr" marL="137160">
                    <a:solidFill>
                      <a:srgbClr val="141B30">
                        <a:alpha val="78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Demo panel"/>
          <p:cNvSpPr/>
          <p:nvPr/>
        </p:nvSpPr>
        <p:spPr>
          <a:xfrm>
            <a:off x="11178540" y="2606040"/>
            <a:ext cx="6080760" cy="6583680"/>
          </a:xfrm>
          <a:prstGeom prst="roundRect">
            <a:avLst>
              <a:gd name="adj" fmla="val 6000"/>
            </a:avLst>
          </a:prstGeom>
          <a:solidFill>
            <a:srgbClr val="141B30">
              <a:alpha val="75000"/>
            </a:srgbClr>
          </a:solidFill>
          <a:ln w="31750">
            <a:solidFill>
              <a:srgbClr val="45BB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69980" y="2679192"/>
            <a:ext cx="589788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45BBA0"/>
                </a:solidFill>
                <a:latin typeface="Times New Roman"/>
              </a:rPr>
              <a:t>Demo flow</a:t>
            </a:r>
          </a:p>
        </p:txBody>
      </p:sp>
      <p:sp>
        <p:nvSpPr>
          <p:cNvPr id="10" name="Oval 9"/>
          <p:cNvSpPr/>
          <p:nvPr/>
        </p:nvSpPr>
        <p:spPr>
          <a:xfrm>
            <a:off x="11361419" y="3364992"/>
            <a:ext cx="502920" cy="502920"/>
          </a:xfrm>
          <a:prstGeom prst="ellipse">
            <a:avLst/>
          </a:prstGeom>
          <a:solidFill>
            <a:srgbClr val="45B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0B1020"/>
                </a:solidFill>
                <a:latin typeface="Times New Roman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55780" y="3291840"/>
            <a:ext cx="5166360" cy="10972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Times New Roman"/>
              </a:rPr>
              <a:t>Create a report in Mumbai; it appears in Hyderabad and Singapore.</a:t>
            </a:r>
          </a:p>
        </p:txBody>
      </p:sp>
      <p:sp>
        <p:nvSpPr>
          <p:cNvPr id="12" name="Oval 11"/>
          <p:cNvSpPr/>
          <p:nvPr/>
        </p:nvSpPr>
        <p:spPr>
          <a:xfrm>
            <a:off x="11361419" y="4526280"/>
            <a:ext cx="502920" cy="502920"/>
          </a:xfrm>
          <a:prstGeom prst="ellipse">
            <a:avLst/>
          </a:prstGeom>
          <a:solidFill>
            <a:srgbClr val="45B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0B1020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55780" y="4453128"/>
            <a:ext cx="5166360" cy="10972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Times New Roman"/>
              </a:rPr>
              <a:t>Cut the Mumbai–Hyderabad link.</a:t>
            </a:r>
          </a:p>
        </p:txBody>
      </p:sp>
      <p:sp>
        <p:nvSpPr>
          <p:cNvPr id="14" name="Oval 13"/>
          <p:cNvSpPr/>
          <p:nvPr/>
        </p:nvSpPr>
        <p:spPr>
          <a:xfrm>
            <a:off x="11361419" y="5687568"/>
            <a:ext cx="502920" cy="502920"/>
          </a:xfrm>
          <a:prstGeom prst="ellipse">
            <a:avLst/>
          </a:prstGeom>
          <a:solidFill>
            <a:srgbClr val="45B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0B1020"/>
                </a:solidFill>
                <a:latin typeface="Times New Roman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55780" y="5614416"/>
            <a:ext cx="5166360" cy="10972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Times New Roman"/>
              </a:rPr>
              <a:t>Edit the same report on both sides; both are accepted and marked “local”.</a:t>
            </a:r>
          </a:p>
        </p:txBody>
      </p:sp>
      <p:sp>
        <p:nvSpPr>
          <p:cNvPr id="16" name="Oval 15"/>
          <p:cNvSpPr/>
          <p:nvPr/>
        </p:nvSpPr>
        <p:spPr>
          <a:xfrm>
            <a:off x="11361419" y="6848856"/>
            <a:ext cx="502920" cy="502920"/>
          </a:xfrm>
          <a:prstGeom prst="ellipse">
            <a:avLst/>
          </a:prstGeom>
          <a:solidFill>
            <a:srgbClr val="45B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0B1020"/>
                </a:solidFill>
                <a:latin typeface="Times New Roman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55780" y="6775704"/>
            <a:ext cx="5166360" cy="10972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Times New Roman"/>
              </a:rPr>
              <a:t>Restore the link; the nodes converge (same state hash).</a:t>
            </a:r>
          </a:p>
        </p:txBody>
      </p:sp>
      <p:sp>
        <p:nvSpPr>
          <p:cNvPr id="18" name="Oval 17"/>
          <p:cNvSpPr/>
          <p:nvPr/>
        </p:nvSpPr>
        <p:spPr>
          <a:xfrm>
            <a:off x="11361419" y="8010144"/>
            <a:ext cx="502920" cy="502920"/>
          </a:xfrm>
          <a:prstGeom prst="ellipse">
            <a:avLst/>
          </a:prstGeom>
          <a:solidFill>
            <a:srgbClr val="45B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0B1020"/>
                </a:solidFill>
                <a:latin typeface="Times New Roman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55780" y="7936992"/>
            <a:ext cx="5166360" cy="10972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Times New Roman"/>
              </a:rPr>
              <a:t>Open the conflict ledger: both versions kept, rule shown.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" y="9372600"/>
            <a:ext cx="1627632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D6DBE6"/>
                </a:solidFill>
                <a:latin typeface="Times New Roman"/>
              </a:rPr>
              <a:t>All data in the demo is created live against running nodes; no sample metrics are shown as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